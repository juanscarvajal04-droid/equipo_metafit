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handoutMasterIdLst>
    <p:handoutMasterId r:id="rId14"/>
  </p:handoutMasterIdLst>
  <p:sldIdLst>
    <p:sldId id="468" r:id="rId2"/>
    <p:sldId id="503" r:id="rId3"/>
    <p:sldId id="499" r:id="rId4"/>
    <p:sldId id="504" r:id="rId5"/>
    <p:sldId id="502" r:id="rId6"/>
    <p:sldId id="508" r:id="rId7"/>
    <p:sldId id="509" r:id="rId8"/>
    <p:sldId id="512" r:id="rId9"/>
    <p:sldId id="513" r:id="rId10"/>
    <p:sldId id="505" r:id="rId11"/>
    <p:sldId id="264" r:id="rId12"/>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24D"/>
    <a:srgbClr val="38AA00"/>
    <a:srgbClr val="766363"/>
    <a:srgbClr val="FFF5EA"/>
    <a:srgbClr val="FF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04"/>
    <p:restoredTop sz="86369"/>
  </p:normalViewPr>
  <p:slideViewPr>
    <p:cSldViewPr snapToGrid="0">
      <p:cViewPr varScale="1">
        <p:scale>
          <a:sx n="95" d="100"/>
          <a:sy n="95" d="100"/>
        </p:scale>
        <p:origin x="1062" y="10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999AFE6-721E-1D92-FFC0-72E02DBB97B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a:extLst>
              <a:ext uri="{FF2B5EF4-FFF2-40B4-BE49-F238E27FC236}">
                <a16:creationId xmlns:a16="http://schemas.microsoft.com/office/drawing/2014/main" id="{BA598C0A-ECF9-B897-80D5-1AE7ABA3058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13/05/2026</a:t>
            </a:fld>
            <a:endParaRPr lang="es-CO"/>
          </a:p>
        </p:txBody>
      </p:sp>
      <p:sp>
        <p:nvSpPr>
          <p:cNvPr id="4" name="Marcador de pie de página 3">
            <a:extLst>
              <a:ext uri="{FF2B5EF4-FFF2-40B4-BE49-F238E27FC236}">
                <a16:creationId xmlns:a16="http://schemas.microsoft.com/office/drawing/2014/main" id="{788F308B-0102-A0B4-9A23-E807C735E85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1E7CACDD-5D14-572A-2591-609B03F168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‹Nº›</a:t>
            </a:fld>
            <a:endParaRPr lang="es-CO"/>
          </a:p>
        </p:txBody>
      </p:sp>
    </p:spTree>
    <p:extLst>
      <p:ext uri="{BB962C8B-B14F-4D97-AF65-F5344CB8AC3E}">
        <p14:creationId xmlns:p14="http://schemas.microsoft.com/office/powerpoint/2010/main" val="34700459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13/05/2026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‹Nº›</a:t>
            </a:fld>
            <a:endParaRPr lang="es-CO"/>
          </a:p>
        </p:txBody>
      </p:sp>
    </p:spTree>
    <p:extLst>
      <p:ext uri="{BB962C8B-B14F-4D97-AF65-F5344CB8AC3E}">
        <p14:creationId xmlns:p14="http://schemas.microsoft.com/office/powerpoint/2010/main" val="1021302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
        <p:nvSpPr>
          <p:cNvPr id="4" name="Marcador de número de diapositiva 3"/>
          <p:cNvSpPr>
            <a:spLocks noGrp="1"/>
          </p:cNvSpPr>
          <p:nvPr>
            <p:ph type="sldNum" sz="quarter" idx="5"/>
          </p:nvPr>
        </p:nvSpPr>
        <p:spPr/>
        <p:txBody>
          <a:bodyPr/>
          <a:lstStyle/>
          <a:p>
            <a:fld id="{6906C58E-460D-4A4B-B0C2-1191B9D14FCB}" type="slidenum">
              <a:rPr lang="es-CO" smtClean="0"/>
              <a:t>1</a:t>
            </a:fld>
            <a:endParaRPr lang="es-CO"/>
          </a:p>
        </p:txBody>
      </p:sp>
    </p:spTree>
    <p:extLst>
      <p:ext uri="{BB962C8B-B14F-4D97-AF65-F5344CB8AC3E}">
        <p14:creationId xmlns:p14="http://schemas.microsoft.com/office/powerpoint/2010/main" val="1178927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10</a:t>
            </a:fld>
            <a:endParaRPr lang="es-CO"/>
          </a:p>
        </p:txBody>
      </p:sp>
    </p:spTree>
    <p:extLst>
      <p:ext uri="{BB962C8B-B14F-4D97-AF65-F5344CB8AC3E}">
        <p14:creationId xmlns:p14="http://schemas.microsoft.com/office/powerpoint/2010/main" val="4582742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5260C-E8AD-B240-9481-5B2FE14A606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A8F4960B-AC04-294C-9B8A-B10830EF5F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89F720DD-BA8F-C443-A59E-F0EEAF843AB1}"/>
              </a:ext>
            </a:extLst>
          </p:cNvPr>
          <p:cNvSpPr>
            <a:spLocks noGrp="1"/>
          </p:cNvSpPr>
          <p:nvPr>
            <p:ph type="dt" sz="half" idx="10"/>
          </p:nvPr>
        </p:nvSpPr>
        <p:spPr/>
        <p:txBody>
          <a:bodyPr/>
          <a:lstStyle/>
          <a:p>
            <a:fld id="{BD986248-06F7-A441-A47A-264EBD310E11}" type="datetimeFigureOut">
              <a:rPr lang="es-CO" smtClean="0"/>
              <a:t>13/05/2026</a:t>
            </a:fld>
            <a:endParaRPr lang="es-CO"/>
          </a:p>
        </p:txBody>
      </p:sp>
      <p:sp>
        <p:nvSpPr>
          <p:cNvPr id="5" name="Marcador de pie de página 4">
            <a:extLst>
              <a:ext uri="{FF2B5EF4-FFF2-40B4-BE49-F238E27FC236}">
                <a16:creationId xmlns:a16="http://schemas.microsoft.com/office/drawing/2014/main" id="{F9A1676A-B50F-4048-B9A0-67475225D0C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0B408DD-191C-9940-B5DC-9B04378C876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37945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817F6C-CDBB-234C-B00B-255C60E5483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29743F10-0075-0F47-A0C2-0071CB2B384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AB4C6E2-1F45-C54F-A384-6BA60BB5E5E7}"/>
              </a:ext>
            </a:extLst>
          </p:cNvPr>
          <p:cNvSpPr>
            <a:spLocks noGrp="1"/>
          </p:cNvSpPr>
          <p:nvPr>
            <p:ph type="dt" sz="half" idx="10"/>
          </p:nvPr>
        </p:nvSpPr>
        <p:spPr/>
        <p:txBody>
          <a:bodyPr/>
          <a:lstStyle/>
          <a:p>
            <a:fld id="{BD986248-06F7-A441-A47A-264EBD310E11}" type="datetimeFigureOut">
              <a:rPr lang="es-CO" smtClean="0"/>
              <a:t>13/05/2026</a:t>
            </a:fld>
            <a:endParaRPr lang="es-CO"/>
          </a:p>
        </p:txBody>
      </p:sp>
      <p:sp>
        <p:nvSpPr>
          <p:cNvPr id="5" name="Marcador de pie de página 4">
            <a:extLst>
              <a:ext uri="{FF2B5EF4-FFF2-40B4-BE49-F238E27FC236}">
                <a16:creationId xmlns:a16="http://schemas.microsoft.com/office/drawing/2014/main" id="{EF44B0E8-9C87-6C41-96F5-6419B500057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DD08979-815A-D443-B424-FB031F975D72}"/>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6422036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4B3E04-413C-394A-94BD-6FD1D56E17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E8DEAC-948A-0F4A-9098-1EA5A30BE3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F0E9B39-9659-7747-851C-17A0C73C8B12}"/>
              </a:ext>
            </a:extLst>
          </p:cNvPr>
          <p:cNvSpPr>
            <a:spLocks noGrp="1"/>
          </p:cNvSpPr>
          <p:nvPr>
            <p:ph type="dt" sz="half" idx="10"/>
          </p:nvPr>
        </p:nvSpPr>
        <p:spPr/>
        <p:txBody>
          <a:bodyPr/>
          <a:lstStyle/>
          <a:p>
            <a:fld id="{BD986248-06F7-A441-A47A-264EBD310E11}" type="datetimeFigureOut">
              <a:rPr lang="es-CO" smtClean="0"/>
              <a:t>13/05/2026</a:t>
            </a:fld>
            <a:endParaRPr lang="es-CO"/>
          </a:p>
        </p:txBody>
      </p:sp>
      <p:sp>
        <p:nvSpPr>
          <p:cNvPr id="5" name="Marcador de pie de página 4">
            <a:extLst>
              <a:ext uri="{FF2B5EF4-FFF2-40B4-BE49-F238E27FC236}">
                <a16:creationId xmlns:a16="http://schemas.microsoft.com/office/drawing/2014/main" id="{5990AE33-28EE-274E-8E15-02A1474831B8}"/>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EA1D99B-0619-1847-8509-03589920E86F}"/>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130376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119BB-39AA-4B48-BB60-3EE344FF24B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8E8365F-8201-9D4B-85A4-E53E8819A8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C674364B-4945-0A4D-A279-35519E3F46D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2868BFB1-0C38-A141-AB7B-22CD10FF3F3D}"/>
              </a:ext>
            </a:extLst>
          </p:cNvPr>
          <p:cNvSpPr>
            <a:spLocks noGrp="1"/>
          </p:cNvSpPr>
          <p:nvPr>
            <p:ph type="dt" sz="half" idx="10"/>
          </p:nvPr>
        </p:nvSpPr>
        <p:spPr/>
        <p:txBody>
          <a:bodyPr/>
          <a:lstStyle/>
          <a:p>
            <a:fld id="{BD986248-06F7-A441-A47A-264EBD310E11}" type="datetimeFigureOut">
              <a:rPr lang="es-CO" smtClean="0"/>
              <a:t>13/05/2026</a:t>
            </a:fld>
            <a:endParaRPr lang="es-CO"/>
          </a:p>
        </p:txBody>
      </p:sp>
      <p:sp>
        <p:nvSpPr>
          <p:cNvPr id="6" name="Marcador de pie de página 5">
            <a:extLst>
              <a:ext uri="{FF2B5EF4-FFF2-40B4-BE49-F238E27FC236}">
                <a16:creationId xmlns:a16="http://schemas.microsoft.com/office/drawing/2014/main" id="{9FF6516E-C104-3E4A-BC0F-DC137BD98C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F2C08597-16B2-3B42-B59A-8815DD747357}"/>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42547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44272C-3F8B-AF4A-82BE-E5BE9107D7B0}"/>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44B8DA00-E62A-A54E-BC50-AEBAAF2516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E9F7D8-1A62-544F-A4E2-23A591854BA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1895FC1-5F27-B640-81B9-33366BECB5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400D0329-F1AE-FE44-A7B4-B16B429A0C9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5A80CE19-B065-6E4F-A207-999BBF94CA15}"/>
              </a:ext>
            </a:extLst>
          </p:cNvPr>
          <p:cNvSpPr>
            <a:spLocks noGrp="1"/>
          </p:cNvSpPr>
          <p:nvPr>
            <p:ph type="dt" sz="half" idx="10"/>
          </p:nvPr>
        </p:nvSpPr>
        <p:spPr/>
        <p:txBody>
          <a:bodyPr/>
          <a:lstStyle/>
          <a:p>
            <a:fld id="{BD986248-06F7-A441-A47A-264EBD310E11}" type="datetimeFigureOut">
              <a:rPr lang="es-CO" smtClean="0"/>
              <a:t>13/05/2026</a:t>
            </a:fld>
            <a:endParaRPr lang="es-CO"/>
          </a:p>
        </p:txBody>
      </p:sp>
      <p:sp>
        <p:nvSpPr>
          <p:cNvPr id="8" name="Marcador de pie de página 7">
            <a:extLst>
              <a:ext uri="{FF2B5EF4-FFF2-40B4-BE49-F238E27FC236}">
                <a16:creationId xmlns:a16="http://schemas.microsoft.com/office/drawing/2014/main" id="{299C46BF-4920-E443-B109-668969C5EB8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9C417FDA-D0D0-AD4C-9F49-6FFEC4BC64C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16954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C92FB5-1F0C-DE4B-8A05-DE0792814E4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5AF7F14C-AA7D-3049-A400-4AC6EED53745}"/>
              </a:ext>
            </a:extLst>
          </p:cNvPr>
          <p:cNvSpPr>
            <a:spLocks noGrp="1"/>
          </p:cNvSpPr>
          <p:nvPr>
            <p:ph type="dt" sz="half" idx="10"/>
          </p:nvPr>
        </p:nvSpPr>
        <p:spPr/>
        <p:txBody>
          <a:bodyPr/>
          <a:lstStyle/>
          <a:p>
            <a:fld id="{BD986248-06F7-A441-A47A-264EBD310E11}" type="datetimeFigureOut">
              <a:rPr lang="es-CO" smtClean="0"/>
              <a:t>13/05/2026</a:t>
            </a:fld>
            <a:endParaRPr lang="es-CO"/>
          </a:p>
        </p:txBody>
      </p:sp>
      <p:sp>
        <p:nvSpPr>
          <p:cNvPr id="4" name="Marcador de pie de página 3">
            <a:extLst>
              <a:ext uri="{FF2B5EF4-FFF2-40B4-BE49-F238E27FC236}">
                <a16:creationId xmlns:a16="http://schemas.microsoft.com/office/drawing/2014/main" id="{E746EF7E-3912-BF43-BEB6-49819D4EEF21}"/>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9BD767C9-209C-E54C-90E7-5176E4464B89}"/>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822851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7E92712-14E7-954C-8C23-33CD3DBD715B}"/>
              </a:ext>
            </a:extLst>
          </p:cNvPr>
          <p:cNvSpPr>
            <a:spLocks noGrp="1"/>
          </p:cNvSpPr>
          <p:nvPr>
            <p:ph type="dt" sz="half" idx="10"/>
          </p:nvPr>
        </p:nvSpPr>
        <p:spPr/>
        <p:txBody>
          <a:bodyPr/>
          <a:lstStyle/>
          <a:p>
            <a:fld id="{BD986248-06F7-A441-A47A-264EBD310E11}" type="datetimeFigureOut">
              <a:rPr lang="es-CO" smtClean="0"/>
              <a:t>13/05/2026</a:t>
            </a:fld>
            <a:endParaRPr lang="es-CO"/>
          </a:p>
        </p:txBody>
      </p:sp>
      <p:sp>
        <p:nvSpPr>
          <p:cNvPr id="3" name="Marcador de pie de página 2">
            <a:extLst>
              <a:ext uri="{FF2B5EF4-FFF2-40B4-BE49-F238E27FC236}">
                <a16:creationId xmlns:a16="http://schemas.microsoft.com/office/drawing/2014/main" id="{FD7BCE5F-F417-1247-9F26-F4B71346851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20B4FC7D-A6BA-0840-87AD-C71B1896B98D}"/>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2541620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F2BE35-F0B5-DA4A-BE9E-AACFF26FF18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E62C38B-5384-914E-829A-352266F70B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A79E434B-6E01-8148-AB00-051DDD4020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3E8B8D-7A8A-794B-83A8-6920142BBBD1}"/>
              </a:ext>
            </a:extLst>
          </p:cNvPr>
          <p:cNvSpPr>
            <a:spLocks noGrp="1"/>
          </p:cNvSpPr>
          <p:nvPr>
            <p:ph type="dt" sz="half" idx="10"/>
          </p:nvPr>
        </p:nvSpPr>
        <p:spPr/>
        <p:txBody>
          <a:bodyPr/>
          <a:lstStyle/>
          <a:p>
            <a:fld id="{BD986248-06F7-A441-A47A-264EBD310E11}" type="datetimeFigureOut">
              <a:rPr lang="es-CO" smtClean="0"/>
              <a:t>13/05/2026</a:t>
            </a:fld>
            <a:endParaRPr lang="es-CO"/>
          </a:p>
        </p:txBody>
      </p:sp>
      <p:sp>
        <p:nvSpPr>
          <p:cNvPr id="6" name="Marcador de pie de página 5">
            <a:extLst>
              <a:ext uri="{FF2B5EF4-FFF2-40B4-BE49-F238E27FC236}">
                <a16:creationId xmlns:a16="http://schemas.microsoft.com/office/drawing/2014/main" id="{582F34C9-1A26-0B41-8AE3-21E599CC561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782100B2-B969-0340-BEE2-F5FE05353DFA}"/>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697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ADFDE3-8BDA-6F45-A442-3C2913AE526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C08B3433-597C-7E43-A088-A50E44343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A20DB791-C948-D149-A74A-0C0DFCA0B4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145138C-C370-6E42-902A-0DD2F4F614AE}"/>
              </a:ext>
            </a:extLst>
          </p:cNvPr>
          <p:cNvSpPr>
            <a:spLocks noGrp="1"/>
          </p:cNvSpPr>
          <p:nvPr>
            <p:ph type="dt" sz="half" idx="10"/>
          </p:nvPr>
        </p:nvSpPr>
        <p:spPr/>
        <p:txBody>
          <a:bodyPr/>
          <a:lstStyle/>
          <a:p>
            <a:fld id="{BD986248-06F7-A441-A47A-264EBD310E11}" type="datetimeFigureOut">
              <a:rPr lang="es-CO" smtClean="0"/>
              <a:t>13/05/2026</a:t>
            </a:fld>
            <a:endParaRPr lang="es-CO"/>
          </a:p>
        </p:txBody>
      </p:sp>
      <p:sp>
        <p:nvSpPr>
          <p:cNvPr id="6" name="Marcador de pie de página 5">
            <a:extLst>
              <a:ext uri="{FF2B5EF4-FFF2-40B4-BE49-F238E27FC236}">
                <a16:creationId xmlns:a16="http://schemas.microsoft.com/office/drawing/2014/main" id="{9A61561C-CA9F-0943-8A3E-60233368C60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7B72CA4-FB9F-FB4B-8159-119C3846C3CB}"/>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069502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C07BF5-7EFA-9943-8CEE-7006AC893CB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EFF53FB-B16B-7444-99CF-B7533C11E26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C9133D3-834D-0942-99DE-29F15E8DC436}"/>
              </a:ext>
            </a:extLst>
          </p:cNvPr>
          <p:cNvSpPr>
            <a:spLocks noGrp="1"/>
          </p:cNvSpPr>
          <p:nvPr>
            <p:ph type="dt" sz="half" idx="10"/>
          </p:nvPr>
        </p:nvSpPr>
        <p:spPr/>
        <p:txBody>
          <a:bodyPr/>
          <a:lstStyle/>
          <a:p>
            <a:fld id="{BD986248-06F7-A441-A47A-264EBD310E11}" type="datetimeFigureOut">
              <a:rPr lang="es-CO" smtClean="0"/>
              <a:t>13/05/2026</a:t>
            </a:fld>
            <a:endParaRPr lang="es-CO"/>
          </a:p>
        </p:txBody>
      </p:sp>
      <p:sp>
        <p:nvSpPr>
          <p:cNvPr id="5" name="Marcador de pie de página 4">
            <a:extLst>
              <a:ext uri="{FF2B5EF4-FFF2-40B4-BE49-F238E27FC236}">
                <a16:creationId xmlns:a16="http://schemas.microsoft.com/office/drawing/2014/main" id="{5A5A02E1-CB07-7943-ACA2-6FF8387D32DF}"/>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2BC7A9-2B5F-1841-91C8-9460E3E551A3}"/>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1711478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Encabezado de sección">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B25968F-984F-8BF4-4FF0-2432A9923EB8}"/>
              </a:ext>
            </a:extLst>
          </p:cNvPr>
          <p:cNvPicPr>
            <a:picLocks noChangeAspect="1"/>
          </p:cNvPicPr>
          <p:nvPr userDrawn="1"/>
        </p:nvPicPr>
        <p:blipFill>
          <a:blip r:embed="rId2"/>
          <a:stretch>
            <a:fillRect/>
          </a:stretch>
        </p:blipFill>
        <p:spPr>
          <a:xfrm>
            <a:off x="11027833" y="317431"/>
            <a:ext cx="811391" cy="790587"/>
          </a:xfrm>
          <a:prstGeom prst="rect">
            <a:avLst/>
          </a:prstGeom>
        </p:spPr>
      </p:pic>
    </p:spTree>
    <p:extLst>
      <p:ext uri="{BB962C8B-B14F-4D97-AF65-F5344CB8AC3E}">
        <p14:creationId xmlns:p14="http://schemas.microsoft.com/office/powerpoint/2010/main" val="32468285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C11DF48-6A7C-3349-8650-2AA87E5D5E6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5D61C96-3D9F-F745-A812-5EC81CEB48F4}"/>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3F61D3C-242D-F544-9883-3EEF515CE808}"/>
              </a:ext>
            </a:extLst>
          </p:cNvPr>
          <p:cNvSpPr>
            <a:spLocks noGrp="1"/>
          </p:cNvSpPr>
          <p:nvPr>
            <p:ph type="dt" sz="half" idx="10"/>
          </p:nvPr>
        </p:nvSpPr>
        <p:spPr/>
        <p:txBody>
          <a:bodyPr/>
          <a:lstStyle/>
          <a:p>
            <a:fld id="{BD986248-06F7-A441-A47A-264EBD310E11}" type="datetimeFigureOut">
              <a:rPr lang="es-CO" smtClean="0"/>
              <a:t>13/05/2026</a:t>
            </a:fld>
            <a:endParaRPr lang="es-CO"/>
          </a:p>
        </p:txBody>
      </p:sp>
      <p:sp>
        <p:nvSpPr>
          <p:cNvPr id="5" name="Marcador de pie de página 4">
            <a:extLst>
              <a:ext uri="{FF2B5EF4-FFF2-40B4-BE49-F238E27FC236}">
                <a16:creationId xmlns:a16="http://schemas.microsoft.com/office/drawing/2014/main" id="{CCAB2518-6961-A143-A5EE-C5606EBA4863}"/>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86FEAD3-1533-7A45-8011-C0C84A1DCD46}"/>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3816216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Encabezado de sección">
    <p:spTree>
      <p:nvGrpSpPr>
        <p:cNvPr id="1" name=""/>
        <p:cNvGrpSpPr/>
        <p:nvPr/>
      </p:nvGrpSpPr>
      <p:grpSpPr>
        <a:xfrm>
          <a:off x="0" y="0"/>
          <a:ext cx="0" cy="0"/>
          <a:chOff x="0" y="0"/>
          <a:chExt cx="0" cy="0"/>
        </a:xfrm>
      </p:grpSpPr>
      <p:pic>
        <p:nvPicPr>
          <p:cNvPr id="6" name="Imagen 5" descr="Patrón de fondo&#10;&#10;Descripción generada automáticamente">
            <a:extLst>
              <a:ext uri="{FF2B5EF4-FFF2-40B4-BE49-F238E27FC236}">
                <a16:creationId xmlns:a16="http://schemas.microsoft.com/office/drawing/2014/main" id="{EDE1298D-A4F7-F1E4-F1B3-3D2F5117E046}"/>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4" name="Imagen 3">
            <a:extLst>
              <a:ext uri="{FF2B5EF4-FFF2-40B4-BE49-F238E27FC236}">
                <a16:creationId xmlns:a16="http://schemas.microsoft.com/office/drawing/2014/main" id="{69B39820-C822-5D71-439D-76D8E95C16E9}"/>
              </a:ext>
            </a:extLst>
          </p:cNvPr>
          <p:cNvPicPr>
            <a:picLocks noChangeAspect="1"/>
          </p:cNvPicPr>
          <p:nvPr userDrawn="1"/>
        </p:nvPicPr>
        <p:blipFill>
          <a:blip r:embed="rId3"/>
          <a:stretch>
            <a:fillRect/>
          </a:stretch>
        </p:blipFill>
        <p:spPr>
          <a:xfrm>
            <a:off x="11054859" y="303050"/>
            <a:ext cx="855785" cy="833982"/>
          </a:xfrm>
          <a:prstGeom prst="rect">
            <a:avLst/>
          </a:prstGeom>
        </p:spPr>
      </p:pic>
    </p:spTree>
    <p:extLst>
      <p:ext uri="{BB962C8B-B14F-4D97-AF65-F5344CB8AC3E}">
        <p14:creationId xmlns:p14="http://schemas.microsoft.com/office/powerpoint/2010/main" val="33703603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CE09D5-8681-04F4-0AD1-7206C3FF51F4}"/>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8EB62C8D-42BE-8DF8-DDA7-6DDCB2389C42}"/>
              </a:ext>
            </a:extLst>
          </p:cNvPr>
          <p:cNvSpPr>
            <a:spLocks noGrp="1"/>
          </p:cNvSpPr>
          <p:nvPr>
            <p:ph type="dt" sz="half" idx="10"/>
          </p:nvPr>
        </p:nvSpPr>
        <p:spPr/>
        <p:txBody>
          <a:bodyPr/>
          <a:lstStyle/>
          <a:p>
            <a:fld id="{BD986248-06F7-A441-A47A-264EBD310E11}" type="datetimeFigureOut">
              <a:rPr lang="es-CO" smtClean="0"/>
              <a:t>13/05/2026</a:t>
            </a:fld>
            <a:endParaRPr lang="es-CO"/>
          </a:p>
        </p:txBody>
      </p:sp>
      <p:sp>
        <p:nvSpPr>
          <p:cNvPr id="4" name="Marcador de pie de página 3">
            <a:extLst>
              <a:ext uri="{FF2B5EF4-FFF2-40B4-BE49-F238E27FC236}">
                <a16:creationId xmlns:a16="http://schemas.microsoft.com/office/drawing/2014/main" id="{19F9D5C3-AD35-C818-D069-AB2D8EBBEEF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E106A169-E84D-2DE1-E7CC-7058F9C00ADE}"/>
              </a:ext>
            </a:extLst>
          </p:cNvPr>
          <p:cNvSpPr>
            <a:spLocks noGrp="1"/>
          </p:cNvSpPr>
          <p:nvPr>
            <p:ph type="sldNum" sz="quarter" idx="12"/>
          </p:nvPr>
        </p:nvSpPr>
        <p:spPr/>
        <p:txBody>
          <a:bodyPr/>
          <a:lstStyle/>
          <a:p>
            <a:fld id="{63E15DF6-230E-2E43-B847-68755106EC6D}" type="slidenum">
              <a:rPr lang="es-CO" smtClean="0"/>
              <a:t>‹Nº›</a:t>
            </a:fld>
            <a:endParaRPr lang="es-CO"/>
          </a:p>
        </p:txBody>
      </p:sp>
    </p:spTree>
    <p:extLst>
      <p:ext uri="{BB962C8B-B14F-4D97-AF65-F5344CB8AC3E}">
        <p14:creationId xmlns:p14="http://schemas.microsoft.com/office/powerpoint/2010/main" val="31456598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pic>
        <p:nvPicPr>
          <p:cNvPr id="3" name="Imagen 2" descr="Interfaz de usuario gráfica, Texto, Aplicación&#10;&#10;Descripción generada automáticamente">
            <a:extLst>
              <a:ext uri="{FF2B5EF4-FFF2-40B4-BE49-F238E27FC236}">
                <a16:creationId xmlns:a16="http://schemas.microsoft.com/office/drawing/2014/main" id="{7DFF890D-F3AC-9928-32A3-F179DB21A0E8}"/>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84946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6EFFBE1-33C9-1D48-A916-7535B68EC6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778E02A-26CF-6C46-A280-67C4AA0551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CE7CDF9-2DDE-C04D-A9B9-78F138A1C3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13/05/2026</a:t>
            </a:fld>
            <a:endParaRPr lang="es-CO"/>
          </a:p>
        </p:txBody>
      </p:sp>
      <p:sp>
        <p:nvSpPr>
          <p:cNvPr id="5" name="Marcador de pie de página 4">
            <a:extLst>
              <a:ext uri="{FF2B5EF4-FFF2-40B4-BE49-F238E27FC236}">
                <a16:creationId xmlns:a16="http://schemas.microsoft.com/office/drawing/2014/main" id="{767570B4-267C-034E-B58B-04C03C9E55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5041693D-7DB1-1144-97E3-85753EC9A0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a:p>
        </p:txBody>
      </p:sp>
    </p:spTree>
    <p:extLst>
      <p:ext uri="{BB962C8B-B14F-4D97-AF65-F5344CB8AC3E}">
        <p14:creationId xmlns:p14="http://schemas.microsoft.com/office/powerpoint/2010/main" val="30626094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2" r:id="rId11"/>
    <p:sldLayoutId id="2147483659" r:id="rId12"/>
    <p:sldLayoutId id="2147483663" r:id="rId13"/>
    <p:sldLayoutId id="2147483675" r:id="rId14"/>
    <p:sldLayoutId id="214748367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1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13.xml"/><Relationship Id="rId5" Type="http://schemas.openxmlformats.org/officeDocument/2006/relationships/hyperlink" Target="https://drive.google.com/file/d/1rZM-tdcQ6OFT-_fs3NPHyG2IlfQSPeh6/view?usp=sharing" TargetMode="External"/><Relationship Id="rId4" Type="http://schemas.openxmlformats.org/officeDocument/2006/relationships/hyperlink" Target="Diagrama%20sin%20t&#237;tulo.drawio.html"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14.xml"/><Relationship Id="rId4" Type="http://schemas.openxmlformats.org/officeDocument/2006/relationships/hyperlink" Target="https://drive.google.com/file/d/1mAptHQTpdozdtZ1iMSwwTzIZLcaGvePK/view?usp=sharing"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drive.google.com/file/d/1MWkKyxWik_Sap2t29A1bXqHy7X_Ymhmw/view?usp=sharing" TargetMode="External"/><Relationship Id="rId3" Type="http://schemas.openxmlformats.org/officeDocument/2006/relationships/hyperlink" Target="https://drive.google.com/file/d/1g_Ji1lwTREl-W1dOBefUes1tajkgSe-9/view?usp=sharing" TargetMode="External"/><Relationship Id="rId7" Type="http://schemas.openxmlformats.org/officeDocument/2006/relationships/hyperlink" Target="https://balsamiq.cloud/sx0ez9/pqnkh8" TargetMode="External"/><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hyperlink" Target="https://viewer.diagrams.net/?tags=%7B%7D&amp;lightbox=1&amp;highlight=0000ff&amp;edit=_blank&amp;layers=1&amp;nav=1&amp;title=Diagrama%20de%20clases%20-%20Metafit&amp;dark=auto#Uhttps%3A%2F%2Fdrive.google.com%2Fuc%3Fid%3D1Bqau6cZt8bPQigfc0wQeEbP3d5-ia2un%26export%3Ddownload" TargetMode="External"/><Relationship Id="rId11" Type="http://schemas.openxmlformats.org/officeDocument/2006/relationships/image" Target="../media/image7.png"/><Relationship Id="rId5" Type="http://schemas.openxmlformats.org/officeDocument/2006/relationships/hyperlink" Target="https://drive.google.com/file/d/1Ol2UvIHbdQhQdWZb6CsC6W7JRju7HWTD/view?usp=sharing" TargetMode="External"/><Relationship Id="rId10" Type="http://schemas.openxmlformats.org/officeDocument/2006/relationships/image" Target="../media/image6.png"/><Relationship Id="rId4" Type="http://schemas.openxmlformats.org/officeDocument/2006/relationships/hyperlink" Target="https://drive.google.com/file/d/14SdzmOq3j4q7NXkoOaZ8BT_aaNey-elh/view?usp=sharing" TargetMode="External"/><Relationship Id="rId9" Type="http://schemas.openxmlformats.org/officeDocument/2006/relationships/hyperlink" Target="Diccionario%20de%20datos%20Metafit.html"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p:cNvSpPr txBox="1"/>
          <p:nvPr/>
        </p:nvSpPr>
        <p:spPr>
          <a:xfrm>
            <a:off x="178298" y="2551836"/>
            <a:ext cx="6453678" cy="1754326"/>
          </a:xfrm>
          <a:prstGeom prst="rect">
            <a:avLst/>
          </a:prstGeom>
          <a:noFill/>
        </p:spPr>
        <p:txBody>
          <a:bodyPr wrap="square" rtlCol="0">
            <a:spAutoFit/>
          </a:bodyPr>
          <a:lstStyle/>
          <a:p>
            <a:pPr algn="ctr"/>
            <a:r>
              <a:rPr lang="es-ES" sz="5400" b="1" dirty="0">
                <a:solidFill>
                  <a:schemeClr val="tx1">
                    <a:lumMod val="75000"/>
                    <a:lumOff val="25000"/>
                  </a:schemeClr>
                </a:solidFill>
                <a:latin typeface="Work Sans" pitchFamily="2" charset="77"/>
              </a:rPr>
              <a:t>META</a:t>
            </a:r>
          </a:p>
          <a:p>
            <a:pPr algn="ctr"/>
            <a:r>
              <a:rPr lang="es-ES" sz="5400" b="1" dirty="0">
                <a:solidFill>
                  <a:schemeClr val="tx1">
                    <a:lumMod val="75000"/>
                    <a:lumOff val="25000"/>
                  </a:schemeClr>
                </a:solidFill>
                <a:latin typeface="Work Sans" pitchFamily="2" charset="77"/>
              </a:rPr>
              <a:t>FIT</a:t>
            </a:r>
            <a:endParaRPr lang="es-ES" sz="4000" b="1" dirty="0">
              <a:solidFill>
                <a:schemeClr val="tx1">
                  <a:lumMod val="75000"/>
                  <a:lumOff val="25000"/>
                </a:schemeClr>
              </a:solidFill>
              <a:latin typeface="Work Sans" pitchFamily="2" charset="77"/>
            </a:endParaRPr>
          </a:p>
        </p:txBody>
      </p:sp>
      <p:pic>
        <p:nvPicPr>
          <p:cNvPr id="1030" name="Picture 6">
            <a:extLst>
              <a:ext uri="{FF2B5EF4-FFF2-40B4-BE49-F238E27FC236}">
                <a16:creationId xmlns:a16="http://schemas.microsoft.com/office/drawing/2014/main" id="{C11B7B0A-E5A8-45F7-A86C-7679689F92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5679" b="15294"/>
          <a:stretch/>
        </p:blipFill>
        <p:spPr bwMode="auto">
          <a:xfrm>
            <a:off x="8463315" y="2431915"/>
            <a:ext cx="3178362" cy="261674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8F6AC25D-232B-444A-B533-1CF1C67A47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0340" y="2692135"/>
            <a:ext cx="2844629" cy="2356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9616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B78A6207-2D79-A9F8-E09D-30C60C0067DF}"/>
              </a:ext>
            </a:extLst>
          </p:cNvPr>
          <p:cNvSpPr txBox="1"/>
          <p:nvPr/>
        </p:nvSpPr>
        <p:spPr>
          <a:xfrm>
            <a:off x="4786989" y="675443"/>
            <a:ext cx="2618024" cy="2308324"/>
          </a:xfrm>
          <a:prstGeom prst="rect">
            <a:avLst/>
          </a:prstGeom>
          <a:noFill/>
        </p:spPr>
        <p:txBody>
          <a:bodyPr wrap="none" rtlCol="0">
            <a:spAutoFit/>
          </a:bodyPr>
          <a:lstStyle/>
          <a:p>
            <a:pPr algn="ctr"/>
            <a:r>
              <a:rPr lang="es-MX" sz="7200" dirty="0">
                <a:solidFill>
                  <a:schemeClr val="bg1"/>
                </a:solidFill>
                <a:effectLst>
                  <a:outerShdw blurRad="38100" dist="38100" dir="2700000" algn="tl">
                    <a:srgbClr val="000000">
                      <a:alpha val="43137"/>
                    </a:srgbClr>
                  </a:outerShdw>
                </a:effectLst>
                <a:latin typeface="Work Sans Light" pitchFamily="2" charset="77"/>
              </a:rPr>
              <a:t>META</a:t>
            </a:r>
          </a:p>
          <a:p>
            <a:pPr algn="ctr"/>
            <a:r>
              <a:rPr lang="es-MX" sz="7200" dirty="0">
                <a:solidFill>
                  <a:schemeClr val="bg1"/>
                </a:solidFill>
                <a:effectLst>
                  <a:outerShdw blurRad="38100" dist="38100" dir="2700000" algn="tl">
                    <a:srgbClr val="000000">
                      <a:alpha val="43137"/>
                    </a:srgbClr>
                  </a:outerShdw>
                </a:effectLst>
                <a:latin typeface="Work Sans Light" pitchFamily="2" charset="77"/>
              </a:rPr>
              <a:t>FIT</a:t>
            </a:r>
            <a:endParaRPr lang="es-CO" sz="7200" dirty="0">
              <a:solidFill>
                <a:schemeClr val="bg1"/>
              </a:solidFill>
              <a:effectLst>
                <a:outerShdw blurRad="38100" dist="38100" dir="2700000" algn="tl">
                  <a:srgbClr val="000000">
                    <a:alpha val="43137"/>
                  </a:srgbClr>
                </a:outerShdw>
              </a:effectLst>
              <a:latin typeface="Work Sans Light" pitchFamily="2" charset="77"/>
            </a:endParaRPr>
          </a:p>
        </p:txBody>
      </p:sp>
      <p:cxnSp>
        <p:nvCxnSpPr>
          <p:cNvPr id="7" name="Conector recto 6">
            <a:extLst>
              <a:ext uri="{FF2B5EF4-FFF2-40B4-BE49-F238E27FC236}">
                <a16:creationId xmlns:a16="http://schemas.microsoft.com/office/drawing/2014/main" id="{7093B0CC-07FB-12E7-E7C8-581324B7AF33}"/>
              </a:ext>
            </a:extLst>
          </p:cNvPr>
          <p:cNvCxnSpPr>
            <a:cxnSpLocks/>
          </p:cNvCxnSpPr>
          <p:nvPr/>
        </p:nvCxnSpPr>
        <p:spPr>
          <a:xfrm>
            <a:off x="5227899" y="3321934"/>
            <a:ext cx="173620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uadroTexto 7">
            <a:extLst>
              <a:ext uri="{FF2B5EF4-FFF2-40B4-BE49-F238E27FC236}">
                <a16:creationId xmlns:a16="http://schemas.microsoft.com/office/drawing/2014/main" id="{9FA07BD2-A8DB-FF10-1E30-572887632351}"/>
              </a:ext>
            </a:extLst>
          </p:cNvPr>
          <p:cNvSpPr txBox="1"/>
          <p:nvPr/>
        </p:nvSpPr>
        <p:spPr>
          <a:xfrm>
            <a:off x="4168816" y="3463724"/>
            <a:ext cx="3854368" cy="1323439"/>
          </a:xfrm>
          <a:prstGeom prst="rect">
            <a:avLst/>
          </a:prstGeom>
          <a:noFill/>
        </p:spPr>
        <p:txBody>
          <a:bodyPr wrap="square" rtlCol="0">
            <a:spAutoFit/>
          </a:bodyPr>
          <a:lstStyle/>
          <a:p>
            <a:pPr algn="ctr"/>
            <a:r>
              <a:rPr lang="es-MX" sz="160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Sofia Astudillo Idrogo</a:t>
            </a:r>
          </a:p>
          <a:p>
            <a:pPr algn="ctr"/>
            <a:r>
              <a:rPr lang="es-MX" sz="160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Juan Sebastian Carvajal Corredor</a:t>
            </a:r>
          </a:p>
          <a:p>
            <a:pPr algn="ctr"/>
            <a:r>
              <a:rPr lang="es-MX" sz="160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Carlos Andrés Rodríguez Tique</a:t>
            </a:r>
          </a:p>
          <a:p>
            <a:pPr algn="ctr"/>
            <a:r>
              <a:rPr lang="es-MX" sz="160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Kevin Sebastian García Robayo</a:t>
            </a:r>
          </a:p>
          <a:p>
            <a:pPr algn="ctr"/>
            <a:r>
              <a:rPr lang="es-MX" sz="160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Isabella Caldas </a:t>
            </a:r>
            <a:r>
              <a:rPr lang="es-MX" sz="1600" dirty="0" err="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Perez</a:t>
            </a:r>
            <a:endParaRPr lang="es-CO" sz="1600"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CuadroTexto 8">
            <a:extLst>
              <a:ext uri="{FF2B5EF4-FFF2-40B4-BE49-F238E27FC236}">
                <a16:creationId xmlns:a16="http://schemas.microsoft.com/office/drawing/2014/main" id="{2F385990-7F30-A8ED-0FEA-F8EAC01BD49D}"/>
              </a:ext>
            </a:extLst>
          </p:cNvPr>
          <p:cNvSpPr txBox="1"/>
          <p:nvPr/>
        </p:nvSpPr>
        <p:spPr>
          <a:xfrm>
            <a:off x="1068888" y="5279998"/>
            <a:ext cx="10054224" cy="1077218"/>
          </a:xfrm>
          <a:prstGeom prst="rect">
            <a:avLst/>
          </a:prstGeom>
          <a:noFill/>
        </p:spPr>
        <p:txBody>
          <a:bodyPr wrap="square" rtlCol="0">
            <a:spAutoFit/>
          </a:bodyPr>
          <a:lstStyle/>
          <a:p>
            <a:pPr algn="ctr"/>
            <a:r>
              <a:rPr lang="es-ES" sz="1600" b="1" dirty="0">
                <a:solidFill>
                  <a:schemeClr val="bg1"/>
                </a:solidFill>
                <a:effectLst>
                  <a:outerShdw blurRad="38100" dist="38100" dir="2700000" algn="tl">
                    <a:srgbClr val="000000">
                      <a:alpha val="43137"/>
                    </a:srgbClr>
                  </a:outerShdw>
                </a:effectLst>
                <a:latin typeface="Work Sans Light" pitchFamily="2" charset="77"/>
              </a:rPr>
              <a:t>Servicio Nacional de Aprendizaje –SENA, Centro de Electricidad Electrónica y Telecomunicaciones</a:t>
            </a:r>
          </a:p>
          <a:p>
            <a:pPr algn="ctr"/>
            <a:r>
              <a:rPr lang="es-ES" sz="1600" b="1" dirty="0">
                <a:solidFill>
                  <a:schemeClr val="bg1"/>
                </a:solidFill>
                <a:effectLst>
                  <a:outerShdw blurRad="38100" dist="38100" dir="2700000" algn="tl">
                    <a:srgbClr val="000000">
                      <a:alpha val="43137"/>
                    </a:srgbClr>
                  </a:outerShdw>
                </a:effectLst>
                <a:latin typeface="Work Sans Light" pitchFamily="2" charset="77"/>
              </a:rPr>
              <a:t>Técnico en Programación de Software - TPS, Tercer Trimestre</a:t>
            </a:r>
          </a:p>
          <a:p>
            <a:pPr algn="ctr"/>
            <a:r>
              <a:rPr lang="es-ES" sz="1600" b="1" dirty="0">
                <a:solidFill>
                  <a:schemeClr val="bg1"/>
                </a:solidFill>
                <a:effectLst>
                  <a:outerShdw blurRad="38100" dist="38100" dir="2700000" algn="tl">
                    <a:srgbClr val="000000">
                      <a:alpha val="43137"/>
                    </a:srgbClr>
                  </a:outerShdw>
                </a:effectLst>
                <a:latin typeface="Work Sans Light" pitchFamily="2" charset="77"/>
              </a:rPr>
              <a:t>Instructor Albeiro Ramos</a:t>
            </a:r>
          </a:p>
          <a:p>
            <a:pPr algn="ctr"/>
            <a:r>
              <a:rPr lang="es-ES" sz="1600" b="1" dirty="0">
                <a:solidFill>
                  <a:schemeClr val="bg1"/>
                </a:solidFill>
                <a:effectLst>
                  <a:outerShdw blurRad="38100" dist="38100" dir="2700000" algn="tl">
                    <a:srgbClr val="000000">
                      <a:alpha val="43137"/>
                    </a:srgbClr>
                  </a:outerShdw>
                </a:effectLst>
                <a:latin typeface="Work Sans Light" pitchFamily="2" charset="77"/>
              </a:rPr>
              <a:t>Bogotá, 4 de Febrero de 2025</a:t>
            </a:r>
            <a:endParaRPr lang="es-CO" sz="1600" b="1" dirty="0">
              <a:solidFill>
                <a:schemeClr val="bg1"/>
              </a:solidFill>
              <a:effectLst>
                <a:outerShdw blurRad="38100" dist="38100" dir="2700000" algn="tl">
                  <a:srgbClr val="000000">
                    <a:alpha val="43137"/>
                  </a:srgbClr>
                </a:outerShdw>
              </a:effectLst>
              <a:latin typeface="Work Sans Light" pitchFamily="2" charset="77"/>
            </a:endParaRPr>
          </a:p>
        </p:txBody>
      </p:sp>
    </p:spTree>
    <p:extLst>
      <p:ext uri="{BB962C8B-B14F-4D97-AF65-F5344CB8AC3E}">
        <p14:creationId xmlns:p14="http://schemas.microsoft.com/office/powerpoint/2010/main" val="1620787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B65FDE73-C641-1100-C209-6B5902DCC3EC}"/>
              </a:ext>
            </a:extLst>
          </p:cNvPr>
          <p:cNvSpPr/>
          <p:nvPr/>
        </p:nvSpPr>
        <p:spPr>
          <a:xfrm>
            <a:off x="4313578" y="1119174"/>
            <a:ext cx="2939970" cy="34724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Título 1">
            <a:extLst>
              <a:ext uri="{FF2B5EF4-FFF2-40B4-BE49-F238E27FC236}">
                <a16:creationId xmlns:a16="http://schemas.microsoft.com/office/drawing/2014/main" id="{EE37A3CD-1BAC-6175-4755-9AC66A46B6FF}"/>
              </a:ext>
            </a:extLst>
          </p:cNvPr>
          <p:cNvSpPr txBox="1">
            <a:spLocks/>
          </p:cNvSpPr>
          <p:nvPr/>
        </p:nvSpPr>
        <p:spPr>
          <a:xfrm>
            <a:off x="4338630" y="827396"/>
            <a:ext cx="351474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3600" dirty="0">
                <a:solidFill>
                  <a:srgbClr val="38AA00"/>
                </a:solidFill>
                <a:latin typeface="Work Sans Light" pitchFamily="2" charset="77"/>
              </a:rPr>
              <a:t>Introducción</a:t>
            </a:r>
          </a:p>
        </p:txBody>
      </p:sp>
      <p:sp>
        <p:nvSpPr>
          <p:cNvPr id="7" name="CuadroTexto 6">
            <a:extLst>
              <a:ext uri="{FF2B5EF4-FFF2-40B4-BE49-F238E27FC236}">
                <a16:creationId xmlns:a16="http://schemas.microsoft.com/office/drawing/2014/main" id="{FBAA83CA-F5E1-3945-40AB-1CB1B233A0BF}"/>
              </a:ext>
            </a:extLst>
          </p:cNvPr>
          <p:cNvSpPr txBox="1"/>
          <p:nvPr/>
        </p:nvSpPr>
        <p:spPr>
          <a:xfrm>
            <a:off x="3025939" y="1758194"/>
            <a:ext cx="6140121" cy="3539430"/>
          </a:xfrm>
          <a:prstGeom prst="rect">
            <a:avLst/>
          </a:prstGeom>
          <a:noFill/>
        </p:spPr>
        <p:txBody>
          <a:bodyPr wrap="square" rtlCol="0">
            <a:spAutoFit/>
          </a:bodyPr>
          <a:lstStyle/>
          <a:p>
            <a:pPr algn="just"/>
            <a:r>
              <a:rPr lang="es-MX" sz="1600" dirty="0">
                <a:latin typeface="Work Sans Light" pitchFamily="2" charset="0"/>
              </a:rPr>
              <a:t>MetaFit es un proyecto que nace para solucionar los retrasos en la entrega de planes de entrenamiento y la falta de acompañamiento inicial a los nuevos usuarios del gimnasio Sportgym. Su objetivo es desarrollar una aplicación web y móvil que ofrezca rutinas personalizadas, planes nutricionales y seguimiento del progreso, mejorando la experiencia del usuario</a:t>
            </a:r>
          </a:p>
          <a:p>
            <a:pPr algn="just"/>
            <a:r>
              <a:rPr lang="es-MX" sz="1600" dirty="0">
                <a:latin typeface="Work Sans Light" pitchFamily="2" charset="0"/>
              </a:rPr>
              <a:t>El proyecto se justifica por la necesidad de una herramienta accesible que integre entrenamiento, nutrición y motivación en una sola plataforma. Su alcance inicial se limita al gimnasio Sportgym (sede Santa Rosita) e incluye los módulos principales del sistema. En esta primera fase no se contemplan integraciones con dispositivos wearables, pagos en línea ni otros gimnasios.</a:t>
            </a:r>
            <a:endParaRPr lang="es-CO" sz="1600" dirty="0">
              <a:latin typeface="Work Sans Light" pitchFamily="2" charset="0"/>
            </a:endParaRPr>
          </a:p>
        </p:txBody>
      </p:sp>
    </p:spTree>
    <p:extLst>
      <p:ext uri="{BB962C8B-B14F-4D97-AF65-F5344CB8AC3E}">
        <p14:creationId xmlns:p14="http://schemas.microsoft.com/office/powerpoint/2010/main" val="685387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62CAF686-2B1F-2A4A-A0F2-CAE3CF59E65B}"/>
              </a:ext>
            </a:extLst>
          </p:cNvPr>
          <p:cNvSpPr txBox="1">
            <a:spLocks/>
          </p:cNvSpPr>
          <p:nvPr/>
        </p:nvSpPr>
        <p:spPr>
          <a:xfrm>
            <a:off x="456236" y="416689"/>
            <a:ext cx="10515600" cy="741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dirty="0">
                <a:solidFill>
                  <a:schemeClr val="bg1"/>
                </a:solidFill>
                <a:latin typeface="Work Sans Medium" pitchFamily="2" charset="77"/>
              </a:rPr>
              <a:t>M</a:t>
            </a:r>
            <a:r>
              <a:rPr lang="es-CO" dirty="0">
                <a:solidFill>
                  <a:schemeClr val="bg1"/>
                </a:solidFill>
                <a:latin typeface="Work Sans Medium" pitchFamily="2" charset="77"/>
              </a:rPr>
              <a:t>ETA FIT</a:t>
            </a:r>
          </a:p>
        </p:txBody>
      </p:sp>
      <p:sp>
        <p:nvSpPr>
          <p:cNvPr id="5" name="CuadroTexto 4">
            <a:extLst>
              <a:ext uri="{FF2B5EF4-FFF2-40B4-BE49-F238E27FC236}">
                <a16:creationId xmlns:a16="http://schemas.microsoft.com/office/drawing/2014/main" id="{7779D7A8-BEDD-C9DB-4CEE-7225220AFBCD}"/>
              </a:ext>
            </a:extLst>
          </p:cNvPr>
          <p:cNvSpPr txBox="1"/>
          <p:nvPr/>
        </p:nvSpPr>
        <p:spPr>
          <a:xfrm>
            <a:off x="6792206" y="1922812"/>
            <a:ext cx="5020178" cy="3046988"/>
          </a:xfrm>
          <a:prstGeom prst="rect">
            <a:avLst/>
          </a:prstGeom>
          <a:noFill/>
        </p:spPr>
        <p:txBody>
          <a:bodyPr wrap="square" rtlCol="0">
            <a:spAutoFit/>
          </a:bodyPr>
          <a:lstStyle/>
          <a:p>
            <a:r>
              <a:rPr lang="es-CO" sz="3200" b="1" dirty="0">
                <a:latin typeface="Work Sans Light" pitchFamily="2" charset="77"/>
              </a:rPr>
              <a:t>Problema</a:t>
            </a:r>
          </a:p>
          <a:p>
            <a:r>
              <a:rPr lang="es-CO" sz="3200" b="1" dirty="0">
                <a:latin typeface="Work Sans Light" pitchFamily="2" charset="77"/>
              </a:rPr>
              <a:t>Objetivos</a:t>
            </a:r>
          </a:p>
          <a:p>
            <a:r>
              <a:rPr lang="es-CO" sz="3200" b="1" dirty="0">
                <a:latin typeface="Work Sans Light" pitchFamily="2" charset="77"/>
              </a:rPr>
              <a:t>Justificación</a:t>
            </a:r>
          </a:p>
          <a:p>
            <a:r>
              <a:rPr lang="es-CO" sz="3200" b="1" dirty="0">
                <a:latin typeface="Work Sans Light" pitchFamily="2" charset="77"/>
              </a:rPr>
              <a:t>Alcance</a:t>
            </a:r>
          </a:p>
          <a:p>
            <a:r>
              <a:rPr lang="es-CO" sz="3200" b="1" dirty="0">
                <a:latin typeface="Work Sans Light" pitchFamily="2" charset="77"/>
              </a:rPr>
              <a:t>Delimitación</a:t>
            </a:r>
          </a:p>
          <a:p>
            <a:r>
              <a:rPr lang="es-CO" sz="3200" b="1" dirty="0">
                <a:latin typeface="Work Sans Light" pitchFamily="2" charset="77"/>
              </a:rPr>
              <a:t>Entregables Trimestre</a:t>
            </a:r>
          </a:p>
        </p:txBody>
      </p:sp>
      <p:pic>
        <p:nvPicPr>
          <p:cNvPr id="6" name="Picture 8">
            <a:extLst>
              <a:ext uri="{FF2B5EF4-FFF2-40B4-BE49-F238E27FC236}">
                <a16:creationId xmlns:a16="http://schemas.microsoft.com/office/drawing/2014/main" id="{420EB6CD-517F-4328-A1EF-5051D5BF20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8654" y="2653224"/>
            <a:ext cx="2351441" cy="194795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C4FCF54-8C7A-44C1-A941-A912A90AE06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5679" b="15294"/>
          <a:stretch/>
        </p:blipFill>
        <p:spPr bwMode="auto">
          <a:xfrm>
            <a:off x="3648811" y="2291429"/>
            <a:ext cx="2805487" cy="23097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2048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s-CO" dirty="0">
                <a:solidFill>
                  <a:schemeClr val="bg1"/>
                </a:solidFill>
                <a:latin typeface="Work Sans Medium" pitchFamily="2" charset="77"/>
              </a:rPr>
              <a:t>Problema</a:t>
            </a:r>
          </a:p>
        </p:txBody>
      </p:sp>
      <p:sp>
        <p:nvSpPr>
          <p:cNvPr id="6" name="CuadroTexto 5">
            <a:extLst>
              <a:ext uri="{FF2B5EF4-FFF2-40B4-BE49-F238E27FC236}">
                <a16:creationId xmlns:a16="http://schemas.microsoft.com/office/drawing/2014/main" id="{0CA39C3C-B25E-C804-C832-61458138A925}"/>
              </a:ext>
            </a:extLst>
          </p:cNvPr>
          <p:cNvSpPr txBox="1"/>
          <p:nvPr/>
        </p:nvSpPr>
        <p:spPr>
          <a:xfrm>
            <a:off x="448608" y="1910713"/>
            <a:ext cx="9248301" cy="2554545"/>
          </a:xfrm>
          <a:prstGeom prst="rect">
            <a:avLst/>
          </a:prstGeom>
          <a:noFill/>
        </p:spPr>
        <p:txBody>
          <a:bodyPr wrap="square" rtlCol="0">
            <a:spAutoFit/>
          </a:bodyPr>
          <a:lstStyle/>
          <a:p>
            <a:pPr algn="just"/>
            <a:r>
              <a:rPr lang="es-MX" sz="1600" dirty="0">
                <a:latin typeface="Work Sans Light" pitchFamily="2" charset="0"/>
              </a:rPr>
              <a:t>El gimnasio Sportgym, ubicado en la sede Santa Rosita en la Carrera 91A #73A-25 en Bogotá, presenta deficiencias en sus procesos de afiliación, entrenamiento y nutrición. Actualmente, el registro de los usuarios es desorganizado y no se le asigna un valor o seguimiento individual a cada cliente. Las rutinas no son verdaderamente personalizadas y no existe un acompañamiento constante que garantice el progreso del usuario. Además, no se brinda orientación nutricional adecuada, por lo que el servicio se limita prácticamente al uso de las máquinas, afectando la experiencia, la motivación y los resultados de los clientes.</a:t>
            </a:r>
          </a:p>
          <a:p>
            <a:pPr algn="just"/>
            <a:endParaRPr lang="es-MX" sz="1600" b="1" i="0" dirty="0">
              <a:effectLst/>
              <a:latin typeface="Work Sans Light" pitchFamily="2" charset="0"/>
            </a:endParaRPr>
          </a:p>
          <a:p>
            <a:pPr algn="just"/>
            <a:r>
              <a:rPr lang="es-MX" sz="1600" dirty="0">
                <a:latin typeface="Work Sans Light" pitchFamily="2" charset="0"/>
              </a:rPr>
              <a:t>¿Qué funcionalidades de un sistema de información web permitirían agilizar los procesos de afiliación, rutinas y nutrición de los clientes del gimnasio Sportgym?</a:t>
            </a:r>
            <a:endParaRPr lang="es-MX" sz="1600" dirty="0">
              <a:effectLst/>
              <a:latin typeface="Work Sans Light" pitchFamily="2" charset="0"/>
            </a:endParaRPr>
          </a:p>
        </p:txBody>
      </p:sp>
      <p:pic>
        <p:nvPicPr>
          <p:cNvPr id="7" name="Picture 6">
            <a:extLst>
              <a:ext uri="{FF2B5EF4-FFF2-40B4-BE49-F238E27FC236}">
                <a16:creationId xmlns:a16="http://schemas.microsoft.com/office/drawing/2014/main" id="{AF42ABE9-9E87-48C8-A063-00868637FDB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5679" b="15294"/>
          <a:stretch/>
        </p:blipFill>
        <p:spPr bwMode="auto">
          <a:xfrm>
            <a:off x="9696909" y="216561"/>
            <a:ext cx="1352366" cy="11134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a:extLst>
              <a:ext uri="{FF2B5EF4-FFF2-40B4-BE49-F238E27FC236}">
                <a16:creationId xmlns:a16="http://schemas.microsoft.com/office/drawing/2014/main" id="{44963E08-CBD3-4E94-862A-C099FBC8F3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7359" y="104277"/>
            <a:ext cx="1479562" cy="1225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4888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B65FDE73-C641-1100-C209-6B5902DCC3EC}"/>
              </a:ext>
            </a:extLst>
          </p:cNvPr>
          <p:cNvSpPr/>
          <p:nvPr/>
        </p:nvSpPr>
        <p:spPr>
          <a:xfrm>
            <a:off x="3998876" y="258145"/>
            <a:ext cx="3527266" cy="34724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Título 1">
            <a:extLst>
              <a:ext uri="{FF2B5EF4-FFF2-40B4-BE49-F238E27FC236}">
                <a16:creationId xmlns:a16="http://schemas.microsoft.com/office/drawing/2014/main" id="{EE37A3CD-1BAC-6175-4755-9AC66A46B6FF}"/>
              </a:ext>
            </a:extLst>
          </p:cNvPr>
          <p:cNvSpPr txBox="1">
            <a:spLocks/>
          </p:cNvSpPr>
          <p:nvPr/>
        </p:nvSpPr>
        <p:spPr>
          <a:xfrm>
            <a:off x="3724017" y="5474"/>
            <a:ext cx="4076985"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CO" sz="3200" dirty="0">
                <a:solidFill>
                  <a:srgbClr val="38AA00"/>
                </a:solidFill>
                <a:latin typeface="Work Sans Light" pitchFamily="2" charset="77"/>
              </a:rPr>
              <a:t>Objetivo General</a:t>
            </a:r>
          </a:p>
        </p:txBody>
      </p:sp>
      <p:sp>
        <p:nvSpPr>
          <p:cNvPr id="7" name="CuadroTexto 6">
            <a:extLst>
              <a:ext uri="{FF2B5EF4-FFF2-40B4-BE49-F238E27FC236}">
                <a16:creationId xmlns:a16="http://schemas.microsoft.com/office/drawing/2014/main" id="{FBAA83CA-F5E1-3945-40AB-1CB1B233A0BF}"/>
              </a:ext>
            </a:extLst>
          </p:cNvPr>
          <p:cNvSpPr txBox="1"/>
          <p:nvPr/>
        </p:nvSpPr>
        <p:spPr>
          <a:xfrm>
            <a:off x="1687730" y="682072"/>
            <a:ext cx="8816540" cy="1569660"/>
          </a:xfrm>
          <a:prstGeom prst="rect">
            <a:avLst/>
          </a:prstGeom>
          <a:noFill/>
        </p:spPr>
        <p:txBody>
          <a:bodyPr wrap="square" rtlCol="0">
            <a:spAutoFit/>
          </a:bodyPr>
          <a:lstStyle/>
          <a:p>
            <a:pPr algn="just"/>
            <a:r>
              <a:rPr lang="es-MX" sz="1600" dirty="0">
                <a:latin typeface="Work Sans Light" pitchFamily="2" charset="0"/>
              </a:rPr>
              <a:t>Desarrollar un sistema de información denominado MetaFit que permita mejorar la gestión y el seguimiento de los usuarios del gimnasio Sportgym mediante el registro organizado de afiliaciones, la asignación de rutinas personalizadas y la orientación en planes de nutrición, con el fin de brindar un acompañamiento más completo a cada cliente, optimizar los procesos del gimnasio y mejorar la experiencia y los resultados de los usuarios</a:t>
            </a:r>
          </a:p>
        </p:txBody>
      </p:sp>
      <p:sp>
        <p:nvSpPr>
          <p:cNvPr id="5" name="Rectángulo 4">
            <a:extLst>
              <a:ext uri="{FF2B5EF4-FFF2-40B4-BE49-F238E27FC236}">
                <a16:creationId xmlns:a16="http://schemas.microsoft.com/office/drawing/2014/main" id="{F5CB49A8-7161-5037-729C-90C8765D1574}"/>
              </a:ext>
            </a:extLst>
          </p:cNvPr>
          <p:cNvSpPr/>
          <p:nvPr/>
        </p:nvSpPr>
        <p:spPr>
          <a:xfrm>
            <a:off x="3724017" y="2509659"/>
            <a:ext cx="4166093" cy="34724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Título 1">
            <a:extLst>
              <a:ext uri="{FF2B5EF4-FFF2-40B4-BE49-F238E27FC236}">
                <a16:creationId xmlns:a16="http://schemas.microsoft.com/office/drawing/2014/main" id="{802FD35A-EA47-F375-CD6A-B61F8B61B3AD}"/>
              </a:ext>
            </a:extLst>
          </p:cNvPr>
          <p:cNvSpPr txBox="1">
            <a:spLocks/>
          </p:cNvSpPr>
          <p:nvPr/>
        </p:nvSpPr>
        <p:spPr>
          <a:xfrm>
            <a:off x="3813126" y="2251732"/>
            <a:ext cx="4076985"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3200" dirty="0">
                <a:solidFill>
                  <a:srgbClr val="38AA00"/>
                </a:solidFill>
                <a:latin typeface="Work Sans Light" pitchFamily="2" charset="77"/>
              </a:rPr>
              <a:t>Objetivo Específicos</a:t>
            </a:r>
          </a:p>
        </p:txBody>
      </p:sp>
      <p:sp>
        <p:nvSpPr>
          <p:cNvPr id="12" name="CuadroTexto 11">
            <a:extLst>
              <a:ext uri="{FF2B5EF4-FFF2-40B4-BE49-F238E27FC236}">
                <a16:creationId xmlns:a16="http://schemas.microsoft.com/office/drawing/2014/main" id="{3AEF4B75-B4C8-47AC-A625-90925816910D}"/>
              </a:ext>
            </a:extLst>
          </p:cNvPr>
          <p:cNvSpPr txBox="1"/>
          <p:nvPr/>
        </p:nvSpPr>
        <p:spPr>
          <a:xfrm>
            <a:off x="3213801" y="3205885"/>
            <a:ext cx="5275634" cy="2800767"/>
          </a:xfrm>
          <a:prstGeom prst="rect">
            <a:avLst/>
          </a:prstGeom>
          <a:noFill/>
        </p:spPr>
        <p:txBody>
          <a:bodyPr wrap="square" rtlCol="0">
            <a:spAutoFit/>
          </a:bodyPr>
          <a:lstStyle/>
          <a:p>
            <a:pPr marL="285750" indent="-285750" algn="ctr">
              <a:buFont typeface="Arial" panose="020B0604020202020204" pitchFamily="34" charset="0"/>
              <a:buChar char="•"/>
            </a:pPr>
            <a:r>
              <a:rPr lang="es-MX" sz="1600" dirty="0">
                <a:latin typeface="Work Sans Light" pitchFamily="2" charset="77"/>
              </a:rPr>
              <a:t>Desarrollar el módulo de gestión de usuarios del sistema MetaFit.</a:t>
            </a:r>
          </a:p>
          <a:p>
            <a:pPr marL="285750" indent="-285750" algn="ctr">
              <a:buFont typeface="Arial" panose="020B0604020202020204" pitchFamily="34" charset="0"/>
              <a:buChar char="•"/>
            </a:pPr>
            <a:r>
              <a:rPr lang="es-MX" sz="1600" dirty="0">
                <a:latin typeface="Work Sans Light" pitchFamily="2" charset="77"/>
              </a:rPr>
              <a:t>Desarrollar el módulo de entrenamiento y rutinas personalizadas para los afiliados del sistema MetaFit.</a:t>
            </a:r>
          </a:p>
          <a:p>
            <a:pPr marL="285750" indent="-285750" algn="ctr">
              <a:buFont typeface="Arial" panose="020B0604020202020204" pitchFamily="34" charset="0"/>
              <a:buChar char="•"/>
            </a:pPr>
            <a:r>
              <a:rPr lang="es-MX" sz="1600" dirty="0">
                <a:latin typeface="Work Sans Light" pitchFamily="2" charset="77"/>
              </a:rPr>
              <a:t>Desarrollar el módulo de planes de nutrición para los usuarios afiliados del sistema MetaFit.</a:t>
            </a:r>
          </a:p>
          <a:p>
            <a:pPr marL="285750" indent="-285750" algn="ctr">
              <a:buFont typeface="Arial" panose="020B0604020202020204" pitchFamily="34" charset="0"/>
              <a:buChar char="•"/>
            </a:pPr>
            <a:r>
              <a:rPr lang="es-MX" sz="1600" dirty="0">
                <a:latin typeface="Work Sans Light" pitchFamily="2" charset="77"/>
              </a:rPr>
              <a:t>Desarrollar el módulo de gamificación del sistema MetaFit para motivar el progreso de los usuarios.</a:t>
            </a:r>
          </a:p>
          <a:p>
            <a:pPr marL="285750" indent="-285750" algn="ctr">
              <a:buFont typeface="Arial" panose="020B0604020202020204" pitchFamily="34" charset="0"/>
              <a:buChar char="•"/>
            </a:pPr>
            <a:r>
              <a:rPr lang="es-MX" sz="1600" dirty="0">
                <a:latin typeface="Work Sans Light" pitchFamily="2" charset="77"/>
              </a:rPr>
              <a:t>Desarrollar el módulo de reportes gráficos y seguimiento del sistema MetaFit.</a:t>
            </a:r>
          </a:p>
        </p:txBody>
      </p:sp>
    </p:spTree>
    <p:extLst>
      <p:ext uri="{BB962C8B-B14F-4D97-AF65-F5344CB8AC3E}">
        <p14:creationId xmlns:p14="http://schemas.microsoft.com/office/powerpoint/2010/main" val="591205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lstStyle/>
          <a:p>
            <a:r>
              <a:rPr lang="es-CO" dirty="0">
                <a:solidFill>
                  <a:schemeClr val="bg1"/>
                </a:solidFill>
                <a:latin typeface="Work Sans Medium" pitchFamily="2" charset="77"/>
              </a:rPr>
              <a:t>Justificación</a:t>
            </a:r>
          </a:p>
        </p:txBody>
      </p:sp>
      <p:sp>
        <p:nvSpPr>
          <p:cNvPr id="6" name="CuadroTexto 5">
            <a:extLst>
              <a:ext uri="{FF2B5EF4-FFF2-40B4-BE49-F238E27FC236}">
                <a16:creationId xmlns:a16="http://schemas.microsoft.com/office/drawing/2014/main" id="{0CA39C3C-B25E-C804-C832-61458138A925}"/>
              </a:ext>
            </a:extLst>
          </p:cNvPr>
          <p:cNvSpPr txBox="1"/>
          <p:nvPr/>
        </p:nvSpPr>
        <p:spPr>
          <a:xfrm>
            <a:off x="644728" y="1803708"/>
            <a:ext cx="7614055" cy="1815882"/>
          </a:xfrm>
          <a:prstGeom prst="rect">
            <a:avLst/>
          </a:prstGeom>
          <a:noFill/>
        </p:spPr>
        <p:txBody>
          <a:bodyPr wrap="square" rtlCol="0">
            <a:spAutoFit/>
          </a:bodyPr>
          <a:lstStyle/>
          <a:p>
            <a:pPr algn="just"/>
            <a:r>
              <a:rPr lang="es-MX" sz="1600" dirty="0">
                <a:latin typeface="Work Sans Light" pitchFamily="2" charset="0"/>
              </a:rPr>
              <a:t>El sistema MetaFit se propone como una solución para mejorar la gestión de usuarios, rutinas de entrenamiento y orientación nutricional en el gimnasio Sport </a:t>
            </a:r>
            <a:r>
              <a:rPr lang="es-MX" sz="1600" dirty="0" err="1">
                <a:latin typeface="Work Sans Light" pitchFamily="2" charset="0"/>
              </a:rPr>
              <a:t>Gym</a:t>
            </a:r>
            <a:r>
              <a:rPr lang="es-MX" sz="1600" dirty="0">
                <a:latin typeface="Work Sans Light" pitchFamily="2" charset="0"/>
              </a:rPr>
              <a:t>. A través de esta aplicación se busca organizar la información de los afiliados y brindar un seguimiento más personalizado. Esto beneficiará tanto a los usuarios, quienes tendrán rutinas y apoyo adaptado a sus objetivos, como a los administradores del gimnasio, quienes podrán gestionar de forma más eficiente la información y el progreso de sus clientes.</a:t>
            </a:r>
            <a:endParaRPr lang="es-MX" sz="1600" b="1" dirty="0">
              <a:latin typeface="Work Sans Light" pitchFamily="2" charset="0"/>
            </a:endParaRPr>
          </a:p>
        </p:txBody>
      </p:sp>
      <p:pic>
        <p:nvPicPr>
          <p:cNvPr id="7" name="Picture 8">
            <a:extLst>
              <a:ext uri="{FF2B5EF4-FFF2-40B4-BE49-F238E27FC236}">
                <a16:creationId xmlns:a16="http://schemas.microsoft.com/office/drawing/2014/main" id="{243B358C-450B-48A8-9038-BEF3E30454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7359" y="104277"/>
            <a:ext cx="1479562" cy="122568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a:extLst>
              <a:ext uri="{FF2B5EF4-FFF2-40B4-BE49-F238E27FC236}">
                <a16:creationId xmlns:a16="http://schemas.microsoft.com/office/drawing/2014/main" id="{21D8FE14-DD97-4A01-BCB7-738350CDD6E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5679" b="15294"/>
          <a:stretch/>
        </p:blipFill>
        <p:spPr bwMode="auto">
          <a:xfrm>
            <a:off x="9778196" y="160418"/>
            <a:ext cx="1352366" cy="1113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1254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F67CBC-1536-A090-A5B5-FE205F3AF4AD}"/>
              </a:ext>
            </a:extLst>
          </p:cNvPr>
          <p:cNvSpPr txBox="1">
            <a:spLocks/>
          </p:cNvSpPr>
          <p:nvPr/>
        </p:nvSpPr>
        <p:spPr>
          <a:xfrm>
            <a:off x="456236" y="457723"/>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dirty="0">
                <a:solidFill>
                  <a:schemeClr val="tx1">
                    <a:lumMod val="95000"/>
                    <a:lumOff val="5000"/>
                  </a:schemeClr>
                </a:solidFill>
                <a:latin typeface="Work Sans Medium" pitchFamily="2" charset="77"/>
              </a:rPr>
              <a:t>Alcance</a:t>
            </a:r>
          </a:p>
        </p:txBody>
      </p:sp>
      <p:sp>
        <p:nvSpPr>
          <p:cNvPr id="6" name="CuadroTexto 5">
            <a:extLst>
              <a:ext uri="{FF2B5EF4-FFF2-40B4-BE49-F238E27FC236}">
                <a16:creationId xmlns:a16="http://schemas.microsoft.com/office/drawing/2014/main" id="{AF636D40-6663-725B-8E0D-34BDB07692AF}"/>
              </a:ext>
            </a:extLst>
          </p:cNvPr>
          <p:cNvSpPr txBox="1"/>
          <p:nvPr/>
        </p:nvSpPr>
        <p:spPr>
          <a:xfrm>
            <a:off x="456236" y="1431626"/>
            <a:ext cx="8930955" cy="2062103"/>
          </a:xfrm>
          <a:prstGeom prst="rect">
            <a:avLst/>
          </a:prstGeom>
          <a:noFill/>
        </p:spPr>
        <p:txBody>
          <a:bodyPr wrap="square" rtlCol="0">
            <a:spAutoFit/>
          </a:bodyPr>
          <a:lstStyle/>
          <a:p>
            <a:pPr algn="just">
              <a:buFont typeface="Arial" panose="020B0604020202020204" pitchFamily="34" charset="0"/>
              <a:buChar char="•"/>
            </a:pPr>
            <a:r>
              <a:rPr lang="es-MX" sz="1600" b="0" i="0" dirty="0">
                <a:effectLst/>
                <a:latin typeface="Work Sans Light" pitchFamily="2" charset="0"/>
              </a:rPr>
              <a:t>Nuestro proyecto por un corto tiempo tendrá un alcance hasta el gimnasio Sportgym en la sede de santa rosita con dirección </a:t>
            </a:r>
            <a:r>
              <a:rPr lang="es-MX" sz="1600" b="0" i="0" dirty="0" err="1">
                <a:effectLst/>
                <a:latin typeface="Work Sans Light" pitchFamily="2" charset="0"/>
              </a:rPr>
              <a:t>Cra</a:t>
            </a:r>
            <a:r>
              <a:rPr lang="es-MX" sz="1600" b="0" i="0" dirty="0">
                <a:effectLst/>
                <a:latin typeface="Work Sans Light" pitchFamily="2" charset="0"/>
              </a:rPr>
              <a:t>. 91a #73a-25, Bogotá</a:t>
            </a:r>
            <a:endParaRPr lang="es-MX" sz="1600" dirty="0">
              <a:latin typeface="Work Sans Light" pitchFamily="2" charset="0"/>
            </a:endParaRPr>
          </a:p>
          <a:p>
            <a:pPr algn="just">
              <a:buFont typeface="Arial" panose="020B0604020202020204" pitchFamily="34" charset="0"/>
              <a:buChar char="•"/>
            </a:pPr>
            <a:r>
              <a:rPr lang="es-MX" sz="1600" b="0" i="0" dirty="0">
                <a:effectLst/>
                <a:latin typeface="Work Sans Light" pitchFamily="2" charset="0"/>
              </a:rPr>
              <a:t>El proyecto abarcar en su alcance el diseño de la aplicación móvil y web con sus principales módulos: entrenamiento, nutrición, reportes, comunidad y gamificación.</a:t>
            </a:r>
            <a:endParaRPr lang="es-MX" sz="1600" dirty="0">
              <a:latin typeface="Work Sans Light" pitchFamily="2" charset="0"/>
            </a:endParaRPr>
          </a:p>
          <a:p>
            <a:pPr algn="just">
              <a:buFont typeface="Arial" panose="020B0604020202020204" pitchFamily="34" charset="0"/>
              <a:buChar char="•"/>
            </a:pPr>
            <a:r>
              <a:rPr lang="es-MX" sz="1600" b="0" i="0" dirty="0">
                <a:effectLst/>
                <a:latin typeface="Work Sans Light" pitchFamily="2" charset="0"/>
              </a:rPr>
              <a:t>Incluir la personalización básica y generar recomendaciones automáticas.</a:t>
            </a:r>
            <a:endParaRPr lang="es-MX" sz="1600" dirty="0">
              <a:latin typeface="Work Sans Light" pitchFamily="2" charset="0"/>
            </a:endParaRPr>
          </a:p>
          <a:p>
            <a:pPr algn="just">
              <a:buFont typeface="Arial" panose="020B0604020202020204" pitchFamily="34" charset="0"/>
              <a:buChar char="•"/>
            </a:pPr>
            <a:r>
              <a:rPr lang="es-MX" sz="1600" b="0" i="0" dirty="0">
                <a:effectLst/>
                <a:latin typeface="Work Sans Light" pitchFamily="2" charset="0"/>
              </a:rPr>
              <a:t>Excluir en esta primera fase la expansión a dispositivos wearables, pasarela de pago o la integración con gimnasios externos, dejando abierta la posibilidad de contemplarlo en futuras versiones.</a:t>
            </a:r>
            <a:endParaRPr lang="es-MX" sz="1600" dirty="0">
              <a:latin typeface="Work Sans Light" pitchFamily="2" charset="0"/>
            </a:endParaRPr>
          </a:p>
        </p:txBody>
      </p:sp>
      <p:pic>
        <p:nvPicPr>
          <p:cNvPr id="7" name="Picture 8">
            <a:extLst>
              <a:ext uri="{FF2B5EF4-FFF2-40B4-BE49-F238E27FC236}">
                <a16:creationId xmlns:a16="http://schemas.microsoft.com/office/drawing/2014/main" id="{D5C6FDA3-4F48-4791-85DC-5E20A5A010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7359" y="104277"/>
            <a:ext cx="1479562" cy="122568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a:extLst>
              <a:ext uri="{FF2B5EF4-FFF2-40B4-BE49-F238E27FC236}">
                <a16:creationId xmlns:a16="http://schemas.microsoft.com/office/drawing/2014/main" id="{777E2CF4-1FF2-4EFA-A46C-8CEE9A58825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5679" b="15294"/>
          <a:stretch/>
        </p:blipFill>
        <p:spPr bwMode="auto">
          <a:xfrm>
            <a:off x="9778196" y="160418"/>
            <a:ext cx="1352366" cy="1113401"/>
          </a:xfrm>
          <a:prstGeom prst="rect">
            <a:avLst/>
          </a:prstGeom>
          <a:noFill/>
          <a:extLst>
            <a:ext uri="{909E8E84-426E-40DD-AFC4-6F175D3DCCD1}">
              <a14:hiddenFill xmlns:a14="http://schemas.microsoft.com/office/drawing/2010/main">
                <a:solidFill>
                  <a:srgbClr val="FFFFFF"/>
                </a:solidFill>
              </a14:hiddenFill>
            </a:ext>
          </a:extLst>
        </p:spPr>
      </p:pic>
      <p:sp>
        <p:nvSpPr>
          <p:cNvPr id="9" name="Título 1">
            <a:extLst>
              <a:ext uri="{FF2B5EF4-FFF2-40B4-BE49-F238E27FC236}">
                <a16:creationId xmlns:a16="http://schemas.microsoft.com/office/drawing/2014/main" id="{CB419BD1-9F6F-4A1B-A502-E5F75B235E55}"/>
              </a:ext>
            </a:extLst>
          </p:cNvPr>
          <p:cNvSpPr txBox="1">
            <a:spLocks/>
          </p:cNvSpPr>
          <p:nvPr/>
        </p:nvSpPr>
        <p:spPr>
          <a:xfrm>
            <a:off x="456236" y="3668826"/>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2800" dirty="0">
                <a:solidFill>
                  <a:schemeClr val="tx1">
                    <a:lumMod val="95000"/>
                    <a:lumOff val="5000"/>
                  </a:schemeClr>
                </a:solidFill>
                <a:latin typeface="Work Sans Medium" pitchFamily="2" charset="77"/>
              </a:rPr>
              <a:t>Ayudas al alcance</a:t>
            </a:r>
          </a:p>
        </p:txBody>
      </p:sp>
      <p:sp>
        <p:nvSpPr>
          <p:cNvPr id="10" name="CuadroTexto 9">
            <a:extLst>
              <a:ext uri="{FF2B5EF4-FFF2-40B4-BE49-F238E27FC236}">
                <a16:creationId xmlns:a16="http://schemas.microsoft.com/office/drawing/2014/main" id="{B9DC0328-470A-4649-9836-FAA6730C9400}"/>
              </a:ext>
            </a:extLst>
          </p:cNvPr>
          <p:cNvSpPr txBox="1"/>
          <p:nvPr/>
        </p:nvSpPr>
        <p:spPr>
          <a:xfrm>
            <a:off x="456236" y="4103490"/>
            <a:ext cx="3823934" cy="338554"/>
          </a:xfrm>
          <a:prstGeom prst="rect">
            <a:avLst/>
          </a:prstGeom>
          <a:noFill/>
        </p:spPr>
        <p:txBody>
          <a:bodyPr wrap="square" rtlCol="0">
            <a:spAutoFit/>
          </a:bodyPr>
          <a:lstStyle/>
          <a:p>
            <a:pPr algn="just">
              <a:buFont typeface="Arial" panose="020B0604020202020204" pitchFamily="34" charset="0"/>
              <a:buChar char="•"/>
            </a:pPr>
            <a:r>
              <a:rPr lang="es-MX" sz="1600" dirty="0">
                <a:latin typeface="Work Sans Light" pitchFamily="2" charset="0"/>
                <a:hlinkClick r:id="rId4" action="ppaction://hlinkfile"/>
              </a:rPr>
              <a:t>Diagrama de Distribución</a:t>
            </a:r>
          </a:p>
        </p:txBody>
      </p:sp>
      <p:sp>
        <p:nvSpPr>
          <p:cNvPr id="11" name="CuadroTexto 10">
            <a:extLst>
              <a:ext uri="{FF2B5EF4-FFF2-40B4-BE49-F238E27FC236}">
                <a16:creationId xmlns:a16="http://schemas.microsoft.com/office/drawing/2014/main" id="{59435589-DCBF-4581-8026-7426F73B87D0}"/>
              </a:ext>
            </a:extLst>
          </p:cNvPr>
          <p:cNvSpPr txBox="1"/>
          <p:nvPr/>
        </p:nvSpPr>
        <p:spPr>
          <a:xfrm>
            <a:off x="456236" y="4520521"/>
            <a:ext cx="3823934" cy="338554"/>
          </a:xfrm>
          <a:prstGeom prst="rect">
            <a:avLst/>
          </a:prstGeom>
          <a:noFill/>
        </p:spPr>
        <p:txBody>
          <a:bodyPr wrap="square" rtlCol="0">
            <a:spAutoFit/>
          </a:bodyPr>
          <a:lstStyle/>
          <a:p>
            <a:pPr algn="just">
              <a:buFont typeface="Arial" panose="020B0604020202020204" pitchFamily="34" charset="0"/>
              <a:buChar char="•"/>
            </a:pPr>
            <a:r>
              <a:rPr lang="es-MX" sz="1600" dirty="0">
                <a:latin typeface="Work Sans Light" pitchFamily="2" charset="0"/>
                <a:hlinkClick r:id="rId5"/>
              </a:rPr>
              <a:t>Recolección de información</a:t>
            </a:r>
            <a:endParaRPr lang="es-MX" sz="1600" dirty="0">
              <a:latin typeface="Work Sans Light" pitchFamily="2" charset="0"/>
              <a:hlinkClick r:id="rId4" action="ppaction://hlinkfile"/>
            </a:endParaRPr>
          </a:p>
        </p:txBody>
      </p:sp>
    </p:spTree>
    <p:extLst>
      <p:ext uri="{BB962C8B-B14F-4D97-AF65-F5344CB8AC3E}">
        <p14:creationId xmlns:p14="http://schemas.microsoft.com/office/powerpoint/2010/main" val="334234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46509" y="110481"/>
            <a:ext cx="10515600" cy="1325563"/>
          </a:xfrm>
        </p:spPr>
        <p:txBody>
          <a:bodyPr/>
          <a:lstStyle/>
          <a:p>
            <a:r>
              <a:rPr lang="es-CO" dirty="0">
                <a:solidFill>
                  <a:schemeClr val="bg1"/>
                </a:solidFill>
                <a:latin typeface="Work Sans Medium" pitchFamily="2" charset="77"/>
              </a:rPr>
              <a:t>Delimitación</a:t>
            </a:r>
          </a:p>
        </p:txBody>
      </p:sp>
      <p:pic>
        <p:nvPicPr>
          <p:cNvPr id="7" name="Picture 8">
            <a:extLst>
              <a:ext uri="{FF2B5EF4-FFF2-40B4-BE49-F238E27FC236}">
                <a16:creationId xmlns:a16="http://schemas.microsoft.com/office/drawing/2014/main" id="{43D66FF9-E561-4B65-A2E2-1FB948D80C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7359" y="104277"/>
            <a:ext cx="1479562" cy="122568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a:extLst>
              <a:ext uri="{FF2B5EF4-FFF2-40B4-BE49-F238E27FC236}">
                <a16:creationId xmlns:a16="http://schemas.microsoft.com/office/drawing/2014/main" id="{F0F842F9-549A-4B5E-A4A9-D4EC405B96F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5679" b="15294"/>
          <a:stretch/>
        </p:blipFill>
        <p:spPr bwMode="auto">
          <a:xfrm>
            <a:off x="9778196" y="160418"/>
            <a:ext cx="1352366" cy="1113401"/>
          </a:xfrm>
          <a:prstGeom prst="rect">
            <a:avLst/>
          </a:prstGeom>
          <a:noFill/>
          <a:extLst>
            <a:ext uri="{909E8E84-426E-40DD-AFC4-6F175D3DCCD1}">
              <a14:hiddenFill xmlns:a14="http://schemas.microsoft.com/office/drawing/2010/main">
                <a:solidFill>
                  <a:srgbClr val="FFFFFF"/>
                </a:solidFill>
              </a14:hiddenFill>
            </a:ext>
          </a:extLst>
        </p:spPr>
      </p:pic>
      <p:sp>
        <p:nvSpPr>
          <p:cNvPr id="9" name="CuadroTexto 8">
            <a:extLst>
              <a:ext uri="{FF2B5EF4-FFF2-40B4-BE49-F238E27FC236}">
                <a16:creationId xmlns:a16="http://schemas.microsoft.com/office/drawing/2014/main" id="{69E967CB-F302-4ABE-ACB2-781CE58C6A73}"/>
              </a:ext>
            </a:extLst>
          </p:cNvPr>
          <p:cNvSpPr txBox="1"/>
          <p:nvPr/>
        </p:nvSpPr>
        <p:spPr>
          <a:xfrm>
            <a:off x="177529" y="1504519"/>
            <a:ext cx="9600667" cy="2062103"/>
          </a:xfrm>
          <a:prstGeom prst="rect">
            <a:avLst/>
          </a:prstGeom>
          <a:noFill/>
        </p:spPr>
        <p:txBody>
          <a:bodyPr wrap="square">
            <a:spAutoFit/>
          </a:bodyPr>
          <a:lstStyle/>
          <a:p>
            <a:r>
              <a:rPr lang="es-MX" sz="1600" dirty="0">
                <a:latin typeface="Work Sans Light" pitchFamily="2" charset="0"/>
              </a:rPr>
              <a:t>El proyecto MetaFit se enfocará en el desarrollo de un sistema orientado a mejorar la gestión de usuarios, rutinas de entrenamiento y orientación nutricional para los afiliados del gimnasio Sport </a:t>
            </a:r>
            <a:r>
              <a:rPr lang="es-MX" sz="1600" dirty="0" err="1">
                <a:latin typeface="Work Sans Light" pitchFamily="2" charset="0"/>
              </a:rPr>
              <a:t>Gym</a:t>
            </a:r>
            <a:r>
              <a:rPr lang="es-MX" sz="1600" dirty="0">
                <a:latin typeface="Work Sans Light" pitchFamily="2" charset="0"/>
              </a:rPr>
              <a:t>. El sistema permitirá registrar usuarios, asignar rutinas personalizadas, ofrecer planes básicos de nutrición y generar reportes de seguimiento del progreso. El desarrollo del proyecto se realizará durante el periodo establecido en el cronograma del diagrama de Gantt, incluyendo las fases de análisis, diseño, desarrollo, integración y pruebas del sistema. Este proyecto se limitará al apoyo digital de los procesos del gimnasio y no incluirá la administración completa del negocio ni servicios médicos o nutricionales profesionales externos.</a:t>
            </a:r>
            <a:endParaRPr lang="es-CO" sz="1600" dirty="0">
              <a:latin typeface="Work Sans Light" pitchFamily="2" charset="0"/>
            </a:endParaRPr>
          </a:p>
        </p:txBody>
      </p:sp>
      <p:sp>
        <p:nvSpPr>
          <p:cNvPr id="5" name="CuadroTexto 4">
            <a:extLst>
              <a:ext uri="{FF2B5EF4-FFF2-40B4-BE49-F238E27FC236}">
                <a16:creationId xmlns:a16="http://schemas.microsoft.com/office/drawing/2014/main" id="{B028F963-C1D0-497B-BCFB-61C2501644A0}"/>
              </a:ext>
            </a:extLst>
          </p:cNvPr>
          <p:cNvSpPr txBox="1"/>
          <p:nvPr/>
        </p:nvSpPr>
        <p:spPr>
          <a:xfrm>
            <a:off x="330739" y="3756391"/>
            <a:ext cx="3754877" cy="338554"/>
          </a:xfrm>
          <a:prstGeom prst="rect">
            <a:avLst/>
          </a:prstGeom>
          <a:noFill/>
        </p:spPr>
        <p:txBody>
          <a:bodyPr wrap="square" rtlCol="0">
            <a:spAutoFit/>
          </a:bodyPr>
          <a:lstStyle/>
          <a:p>
            <a:pPr marL="285750" indent="-285750">
              <a:buFont typeface="Arial" panose="020B0604020202020204" pitchFamily="34" charset="0"/>
              <a:buChar char="•"/>
            </a:pPr>
            <a:r>
              <a:rPr lang="es-MX" sz="1600" dirty="0">
                <a:latin typeface="Work Sans Light" pitchFamily="2" charset="0"/>
                <a:hlinkClick r:id="rId4"/>
              </a:rPr>
              <a:t>Diagrama de Gantt</a:t>
            </a:r>
            <a:endParaRPr lang="es-CO" sz="1600" dirty="0"/>
          </a:p>
        </p:txBody>
      </p:sp>
    </p:spTree>
    <p:extLst>
      <p:ext uri="{BB962C8B-B14F-4D97-AF65-F5344CB8AC3E}">
        <p14:creationId xmlns:p14="http://schemas.microsoft.com/office/powerpoint/2010/main" val="2783826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C1D880-FC17-3789-2435-5FF7492EABD6}"/>
              </a:ext>
            </a:extLst>
          </p:cNvPr>
          <p:cNvSpPr>
            <a:spLocks noGrp="1"/>
          </p:cNvSpPr>
          <p:nvPr>
            <p:ph type="title"/>
          </p:nvPr>
        </p:nvSpPr>
        <p:spPr>
          <a:xfrm>
            <a:off x="456236" y="110481"/>
            <a:ext cx="10515600" cy="1325563"/>
          </a:xfrm>
        </p:spPr>
        <p:txBody>
          <a:bodyPr>
            <a:normAutofit/>
          </a:bodyPr>
          <a:lstStyle/>
          <a:p>
            <a:r>
              <a:rPr lang="es-ES" sz="3200" dirty="0">
                <a:solidFill>
                  <a:schemeClr val="bg1"/>
                </a:solidFill>
                <a:latin typeface="Work Sans Medium" pitchFamily="2" charset="77"/>
              </a:rPr>
              <a:t>Entregables Proyecto Formativo</a:t>
            </a:r>
            <a:br>
              <a:rPr lang="es-ES" sz="3200" dirty="0">
                <a:solidFill>
                  <a:schemeClr val="bg1"/>
                </a:solidFill>
                <a:latin typeface="Work Sans Medium" pitchFamily="2" charset="77"/>
              </a:rPr>
            </a:br>
            <a:r>
              <a:rPr lang="es-ES" sz="3200" dirty="0">
                <a:solidFill>
                  <a:schemeClr val="bg1"/>
                </a:solidFill>
                <a:latin typeface="Work Sans Medium" pitchFamily="2" charset="77"/>
              </a:rPr>
              <a:t>por Trimestre</a:t>
            </a:r>
            <a:endParaRPr lang="es-CO" sz="3200" dirty="0">
              <a:solidFill>
                <a:schemeClr val="bg1"/>
              </a:solidFill>
              <a:latin typeface="Work Sans Medium" pitchFamily="2" charset="77"/>
            </a:endParaRPr>
          </a:p>
        </p:txBody>
      </p:sp>
      <p:sp>
        <p:nvSpPr>
          <p:cNvPr id="7" name="CuadroTexto 6">
            <a:extLst>
              <a:ext uri="{FF2B5EF4-FFF2-40B4-BE49-F238E27FC236}">
                <a16:creationId xmlns:a16="http://schemas.microsoft.com/office/drawing/2014/main" id="{61E176E7-6E48-7043-4A78-359C9D31D057}"/>
              </a:ext>
            </a:extLst>
          </p:cNvPr>
          <p:cNvSpPr txBox="1"/>
          <p:nvPr/>
        </p:nvSpPr>
        <p:spPr>
          <a:xfrm>
            <a:off x="1160912" y="1866819"/>
            <a:ext cx="3854368" cy="2031325"/>
          </a:xfrm>
          <a:prstGeom prst="rect">
            <a:avLst/>
          </a:prstGeom>
          <a:noFill/>
        </p:spPr>
        <p:txBody>
          <a:bodyPr wrap="square" rtlCol="0">
            <a:spAutoFit/>
          </a:bodyPr>
          <a:lstStyle/>
          <a:p>
            <a:pPr marL="171450" indent="-171450">
              <a:buFont typeface="Arial" panose="020B0604020202020204" pitchFamily="34" charset="0"/>
              <a:buChar char="•"/>
            </a:pPr>
            <a:r>
              <a:rPr lang="es-ES" sz="1400" dirty="0">
                <a:latin typeface="Work Sans Light" pitchFamily="2" charset="77"/>
              </a:rPr>
              <a:t>Plan de Proyecto</a:t>
            </a:r>
          </a:p>
          <a:p>
            <a:pPr marL="171450" indent="-171450">
              <a:buFont typeface="Arial" panose="020B0604020202020204" pitchFamily="34" charset="0"/>
              <a:buChar char="•"/>
            </a:pPr>
            <a:r>
              <a:rPr lang="es-ES" sz="1400" dirty="0">
                <a:latin typeface="Work Sans Light" pitchFamily="2" charset="77"/>
              </a:rPr>
              <a:t>Levantamiento de Información</a:t>
            </a:r>
          </a:p>
          <a:p>
            <a:pPr marL="171450" indent="-171450">
              <a:buFont typeface="Arial" panose="020B0604020202020204" pitchFamily="34" charset="0"/>
              <a:buChar char="•"/>
            </a:pPr>
            <a:r>
              <a:rPr lang="es-ES" sz="1400" dirty="0">
                <a:solidFill>
                  <a:srgbClr val="00324D"/>
                </a:solidFill>
                <a:latin typeface="Work Sans Light" pitchFamily="2" charset="77"/>
                <a:hlinkClick r:id="rId3">
                  <a:extLst>
                    <a:ext uri="{A12FA001-AC4F-418D-AE19-62706E023703}">
                      <ahyp:hlinkClr xmlns:ahyp="http://schemas.microsoft.com/office/drawing/2018/hyperlinkcolor" val="tx"/>
                    </a:ext>
                  </a:extLst>
                </a:hlinkClick>
              </a:rPr>
              <a:t>Diagrama de Procesos</a:t>
            </a:r>
            <a:endParaRPr lang="es-ES" sz="1400" dirty="0">
              <a:solidFill>
                <a:srgbClr val="00324D"/>
              </a:solidFill>
              <a:latin typeface="Work Sans Light" pitchFamily="2" charset="77"/>
            </a:endParaRPr>
          </a:p>
          <a:p>
            <a:pPr marL="171450" indent="-171450">
              <a:buFont typeface="Arial" panose="020B0604020202020204" pitchFamily="34" charset="0"/>
              <a:buChar char="•"/>
            </a:pPr>
            <a:r>
              <a:rPr lang="es-ES" sz="1400" dirty="0">
                <a:latin typeface="Work Sans Light" pitchFamily="2" charset="77"/>
                <a:hlinkClick r:id="rId4"/>
              </a:rPr>
              <a:t>IEEE-830 o Historias de Usuario</a:t>
            </a:r>
            <a:endParaRPr lang="es-ES" sz="1400" dirty="0">
              <a:latin typeface="Work Sans Light" pitchFamily="2" charset="77"/>
            </a:endParaRPr>
          </a:p>
          <a:p>
            <a:pPr marL="171450" indent="-171450">
              <a:buFont typeface="Arial" panose="020B0604020202020204" pitchFamily="34" charset="0"/>
              <a:buChar char="•"/>
            </a:pPr>
            <a:r>
              <a:rPr lang="es-ES" sz="1400" dirty="0">
                <a:latin typeface="Work Sans Light" pitchFamily="2" charset="77"/>
                <a:hlinkClick r:id="rId5"/>
              </a:rPr>
              <a:t>Diagrama Casos de Uso</a:t>
            </a:r>
            <a:endParaRPr lang="es-ES" sz="1400" dirty="0">
              <a:latin typeface="Work Sans Light" pitchFamily="2" charset="77"/>
            </a:endParaRPr>
          </a:p>
          <a:p>
            <a:pPr marL="171450" indent="-171450">
              <a:buFont typeface="Arial" panose="020B0604020202020204" pitchFamily="34" charset="0"/>
              <a:buChar char="•"/>
            </a:pPr>
            <a:r>
              <a:rPr lang="es-ES" sz="1400" dirty="0">
                <a:latin typeface="Work Sans Light" pitchFamily="2" charset="77"/>
              </a:rPr>
              <a:t>Casos de Uso Extendido</a:t>
            </a:r>
          </a:p>
          <a:p>
            <a:pPr marL="171450" indent="-171450">
              <a:buFont typeface="Arial" panose="020B0604020202020204" pitchFamily="34" charset="0"/>
              <a:buChar char="•"/>
            </a:pPr>
            <a:r>
              <a:rPr lang="es-ES" sz="1400" dirty="0">
                <a:latin typeface="Work Sans Light" pitchFamily="2" charset="77"/>
                <a:hlinkClick r:id="rId6"/>
              </a:rPr>
              <a:t>Diagrama de Clases</a:t>
            </a:r>
            <a:endParaRPr lang="es-ES" sz="1400" dirty="0">
              <a:latin typeface="Work Sans Light" pitchFamily="2" charset="77"/>
            </a:endParaRPr>
          </a:p>
          <a:p>
            <a:pPr marL="171450" indent="-171450">
              <a:buFont typeface="Arial" panose="020B0604020202020204" pitchFamily="34" charset="0"/>
              <a:buChar char="•"/>
            </a:pPr>
            <a:r>
              <a:rPr lang="es-ES" sz="1400" dirty="0">
                <a:latin typeface="Work Sans Light" pitchFamily="2" charset="77"/>
                <a:hlinkClick r:id="rId7"/>
              </a:rPr>
              <a:t>Prototipo No Funcional</a:t>
            </a:r>
            <a:endParaRPr lang="es-ES" sz="1400" dirty="0">
              <a:latin typeface="Work Sans Light" pitchFamily="2" charset="77"/>
            </a:endParaRPr>
          </a:p>
          <a:p>
            <a:pPr marL="171450" indent="-171450">
              <a:buFont typeface="Arial" panose="020B0604020202020204" pitchFamily="34" charset="0"/>
              <a:buChar char="•"/>
            </a:pPr>
            <a:r>
              <a:rPr lang="es-ES" sz="1400" dirty="0">
                <a:latin typeface="Work Sans Light" pitchFamily="2" charset="77"/>
              </a:rPr>
              <a:t>Patrón de Diseño</a:t>
            </a:r>
          </a:p>
        </p:txBody>
      </p:sp>
      <p:grpSp>
        <p:nvGrpSpPr>
          <p:cNvPr id="12" name="Grupo 11">
            <a:extLst>
              <a:ext uri="{FF2B5EF4-FFF2-40B4-BE49-F238E27FC236}">
                <a16:creationId xmlns:a16="http://schemas.microsoft.com/office/drawing/2014/main" id="{1CFE1397-E268-A3A6-3EA4-AB17D743D504}"/>
              </a:ext>
            </a:extLst>
          </p:cNvPr>
          <p:cNvGrpSpPr/>
          <p:nvPr/>
        </p:nvGrpSpPr>
        <p:grpSpPr>
          <a:xfrm>
            <a:off x="1111717" y="1494678"/>
            <a:ext cx="3239167" cy="347863"/>
            <a:chOff x="668953" y="1494678"/>
            <a:chExt cx="3239167" cy="347863"/>
          </a:xfrm>
        </p:grpSpPr>
        <p:sp>
          <p:nvSpPr>
            <p:cNvPr id="3" name="Rectángulo 2">
              <a:extLst>
                <a:ext uri="{FF2B5EF4-FFF2-40B4-BE49-F238E27FC236}">
                  <a16:creationId xmlns:a16="http://schemas.microsoft.com/office/drawing/2014/main" id="{5F88D1D8-4E77-172A-4075-4BC0AE7244E2}"/>
                </a:ext>
              </a:extLst>
            </p:cNvPr>
            <p:cNvSpPr/>
            <p:nvPr/>
          </p:nvSpPr>
          <p:spPr>
            <a:xfrm>
              <a:off x="781688" y="1796822"/>
              <a:ext cx="971956" cy="4571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Título 1">
              <a:extLst>
                <a:ext uri="{FF2B5EF4-FFF2-40B4-BE49-F238E27FC236}">
                  <a16:creationId xmlns:a16="http://schemas.microsoft.com/office/drawing/2014/main" id="{16C39CA5-CC93-B536-2382-65125837F350}"/>
                </a:ext>
              </a:extLst>
            </p:cNvPr>
            <p:cNvSpPr txBox="1">
              <a:spLocks/>
            </p:cNvSpPr>
            <p:nvPr/>
          </p:nvSpPr>
          <p:spPr>
            <a:xfrm>
              <a:off x="668953" y="1494678"/>
              <a:ext cx="3239167" cy="2945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1800" b="1" dirty="0">
                  <a:solidFill>
                    <a:srgbClr val="38AA00"/>
                  </a:solidFill>
                  <a:latin typeface="Work Sans Light" pitchFamily="2" charset="77"/>
                </a:rPr>
                <a:t>Primer Trimestre</a:t>
              </a:r>
            </a:p>
          </p:txBody>
        </p:sp>
      </p:grpSp>
      <p:sp>
        <p:nvSpPr>
          <p:cNvPr id="13" name="CuadroTexto 12">
            <a:extLst>
              <a:ext uri="{FF2B5EF4-FFF2-40B4-BE49-F238E27FC236}">
                <a16:creationId xmlns:a16="http://schemas.microsoft.com/office/drawing/2014/main" id="{DA55306B-6A90-067D-7E3E-9A883AF81519}"/>
              </a:ext>
            </a:extLst>
          </p:cNvPr>
          <p:cNvSpPr txBox="1"/>
          <p:nvPr/>
        </p:nvSpPr>
        <p:spPr>
          <a:xfrm>
            <a:off x="1366063" y="4602498"/>
            <a:ext cx="3854368" cy="2031325"/>
          </a:xfrm>
          <a:prstGeom prst="rect">
            <a:avLst/>
          </a:prstGeom>
          <a:noFill/>
        </p:spPr>
        <p:txBody>
          <a:bodyPr wrap="square" rtlCol="0">
            <a:spAutoFit/>
          </a:bodyPr>
          <a:lstStyle/>
          <a:p>
            <a:pPr marL="285750" indent="-285750">
              <a:buFont typeface="Arial" panose="020B0604020202020204" pitchFamily="34" charset="0"/>
              <a:buChar char="•"/>
            </a:pPr>
            <a:r>
              <a:rPr lang="es-MX" sz="1400" dirty="0">
                <a:latin typeface="Work Sans Light" pitchFamily="2" charset="77"/>
                <a:hlinkClick r:id="rId8"/>
              </a:rPr>
              <a:t>Modelo Entidad Relación</a:t>
            </a:r>
            <a:endParaRPr lang="es-MX" sz="1400" dirty="0">
              <a:latin typeface="Work Sans Light" pitchFamily="2" charset="77"/>
            </a:endParaRPr>
          </a:p>
          <a:p>
            <a:pPr marL="285750" indent="-285750">
              <a:buFont typeface="Arial" panose="020B0604020202020204" pitchFamily="34" charset="0"/>
              <a:buChar char="•"/>
            </a:pPr>
            <a:r>
              <a:rPr lang="es-MX" sz="1400" dirty="0">
                <a:latin typeface="Work Sans Light" pitchFamily="2" charset="77"/>
              </a:rPr>
              <a:t>Modelo Relacional</a:t>
            </a:r>
          </a:p>
          <a:p>
            <a:pPr marL="285750" indent="-285750">
              <a:buFont typeface="Arial" panose="020B0604020202020204" pitchFamily="34" charset="0"/>
              <a:buChar char="•"/>
            </a:pPr>
            <a:r>
              <a:rPr lang="es-MX" sz="1400" dirty="0">
                <a:latin typeface="Work Sans Light" pitchFamily="2" charset="77"/>
                <a:hlinkClick r:id="rId9" action="ppaction://hlinkfile"/>
              </a:rPr>
              <a:t>Diccionario de Datos</a:t>
            </a:r>
            <a:endParaRPr lang="es-MX" sz="1400" dirty="0">
              <a:latin typeface="Work Sans Light" pitchFamily="2" charset="77"/>
            </a:endParaRPr>
          </a:p>
          <a:p>
            <a:pPr marL="285750" indent="-285750">
              <a:buFont typeface="Arial" panose="020B0604020202020204" pitchFamily="34" charset="0"/>
              <a:buChar char="•"/>
            </a:pPr>
            <a:r>
              <a:rPr lang="es-MX" sz="1400" dirty="0">
                <a:latin typeface="Work Sans Light" pitchFamily="2" charset="77"/>
              </a:rPr>
              <a:t>Script de la BBDD</a:t>
            </a:r>
          </a:p>
          <a:p>
            <a:pPr marL="285750" indent="-285750">
              <a:buFont typeface="Arial" panose="020B0604020202020204" pitchFamily="34" charset="0"/>
              <a:buChar char="•"/>
            </a:pPr>
            <a:r>
              <a:rPr lang="es-MX" sz="1400" dirty="0">
                <a:latin typeface="Work Sans Light" pitchFamily="2" charset="77"/>
              </a:rPr>
              <a:t>Sentencias DDL</a:t>
            </a:r>
          </a:p>
          <a:p>
            <a:pPr marL="285750" indent="-285750">
              <a:buFont typeface="Arial" panose="020B0604020202020204" pitchFamily="34" charset="0"/>
              <a:buChar char="•"/>
            </a:pPr>
            <a:r>
              <a:rPr lang="es-MX" sz="1400" dirty="0">
                <a:latin typeface="Work Sans Light" pitchFamily="2" charset="77"/>
              </a:rPr>
              <a:t>Consultas DML</a:t>
            </a:r>
          </a:p>
          <a:p>
            <a:pPr marL="285750" indent="-285750">
              <a:buFont typeface="Arial" panose="020B0604020202020204" pitchFamily="34" charset="0"/>
              <a:buChar char="•"/>
            </a:pPr>
            <a:r>
              <a:rPr lang="es-MX" sz="1400" dirty="0">
                <a:latin typeface="Work Sans Light" pitchFamily="2" charset="77"/>
              </a:rPr>
              <a:t>Automatización de la BBDD</a:t>
            </a:r>
          </a:p>
          <a:p>
            <a:pPr marL="285750" indent="-285750">
              <a:buFont typeface="Arial" panose="020B0604020202020204" pitchFamily="34" charset="0"/>
              <a:buChar char="•"/>
            </a:pPr>
            <a:r>
              <a:rPr lang="es-MX" sz="1400" dirty="0">
                <a:latin typeface="Work Sans Light" pitchFamily="2" charset="77"/>
              </a:rPr>
              <a:t>Sistema de Información Web – Servidor Local</a:t>
            </a:r>
          </a:p>
        </p:txBody>
      </p:sp>
      <p:grpSp>
        <p:nvGrpSpPr>
          <p:cNvPr id="14" name="Grupo 13">
            <a:extLst>
              <a:ext uri="{FF2B5EF4-FFF2-40B4-BE49-F238E27FC236}">
                <a16:creationId xmlns:a16="http://schemas.microsoft.com/office/drawing/2014/main" id="{4BDEE201-EAE8-3EF0-7D52-A839443BF995}"/>
              </a:ext>
            </a:extLst>
          </p:cNvPr>
          <p:cNvGrpSpPr/>
          <p:nvPr/>
        </p:nvGrpSpPr>
        <p:grpSpPr>
          <a:xfrm>
            <a:off x="1060822" y="4230357"/>
            <a:ext cx="3239167" cy="347863"/>
            <a:chOff x="668953" y="1494678"/>
            <a:chExt cx="3239167" cy="347863"/>
          </a:xfrm>
        </p:grpSpPr>
        <p:sp>
          <p:nvSpPr>
            <p:cNvPr id="15" name="Rectángulo 14">
              <a:extLst>
                <a:ext uri="{FF2B5EF4-FFF2-40B4-BE49-F238E27FC236}">
                  <a16:creationId xmlns:a16="http://schemas.microsoft.com/office/drawing/2014/main" id="{60E7E3DC-F54F-16EE-6193-F3B84790E597}"/>
                </a:ext>
              </a:extLst>
            </p:cNvPr>
            <p:cNvSpPr/>
            <p:nvPr/>
          </p:nvSpPr>
          <p:spPr>
            <a:xfrm>
              <a:off x="781688" y="1796822"/>
              <a:ext cx="971956" cy="4571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6" name="Título 1">
              <a:extLst>
                <a:ext uri="{FF2B5EF4-FFF2-40B4-BE49-F238E27FC236}">
                  <a16:creationId xmlns:a16="http://schemas.microsoft.com/office/drawing/2014/main" id="{E680F7F2-FBF8-50E2-5177-540E4EFE02CB}"/>
                </a:ext>
              </a:extLst>
            </p:cNvPr>
            <p:cNvSpPr txBox="1">
              <a:spLocks/>
            </p:cNvSpPr>
            <p:nvPr/>
          </p:nvSpPr>
          <p:spPr>
            <a:xfrm>
              <a:off x="668953" y="1494678"/>
              <a:ext cx="3239167" cy="2945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1800" b="1" dirty="0">
                  <a:solidFill>
                    <a:srgbClr val="38AA00"/>
                  </a:solidFill>
                  <a:latin typeface="Work Sans Light" pitchFamily="2" charset="77"/>
                </a:rPr>
                <a:t>Segundo Trimestre</a:t>
              </a:r>
            </a:p>
          </p:txBody>
        </p:sp>
      </p:grpSp>
      <p:grpSp>
        <p:nvGrpSpPr>
          <p:cNvPr id="9" name="Grupo 8">
            <a:extLst>
              <a:ext uri="{FF2B5EF4-FFF2-40B4-BE49-F238E27FC236}">
                <a16:creationId xmlns:a16="http://schemas.microsoft.com/office/drawing/2014/main" id="{A3825B01-EA75-13DA-930E-0E7065456FC4}"/>
              </a:ext>
            </a:extLst>
          </p:cNvPr>
          <p:cNvGrpSpPr/>
          <p:nvPr/>
        </p:nvGrpSpPr>
        <p:grpSpPr>
          <a:xfrm>
            <a:off x="4902545" y="2675450"/>
            <a:ext cx="3239167" cy="347863"/>
            <a:chOff x="668953" y="1494678"/>
            <a:chExt cx="3239167" cy="347863"/>
          </a:xfrm>
        </p:grpSpPr>
        <p:sp>
          <p:nvSpPr>
            <p:cNvPr id="10" name="Rectángulo 9">
              <a:extLst>
                <a:ext uri="{FF2B5EF4-FFF2-40B4-BE49-F238E27FC236}">
                  <a16:creationId xmlns:a16="http://schemas.microsoft.com/office/drawing/2014/main" id="{1F95563B-F1FA-3F38-9469-C187B76F2652}"/>
                </a:ext>
              </a:extLst>
            </p:cNvPr>
            <p:cNvSpPr/>
            <p:nvPr/>
          </p:nvSpPr>
          <p:spPr>
            <a:xfrm>
              <a:off x="781688" y="1796822"/>
              <a:ext cx="971956" cy="4571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Título 1">
              <a:extLst>
                <a:ext uri="{FF2B5EF4-FFF2-40B4-BE49-F238E27FC236}">
                  <a16:creationId xmlns:a16="http://schemas.microsoft.com/office/drawing/2014/main" id="{5D4107EC-62A9-0CBC-9BAA-31894991FBDA}"/>
                </a:ext>
              </a:extLst>
            </p:cNvPr>
            <p:cNvSpPr txBox="1">
              <a:spLocks/>
            </p:cNvSpPr>
            <p:nvPr/>
          </p:nvSpPr>
          <p:spPr>
            <a:xfrm>
              <a:off x="668953" y="1494678"/>
              <a:ext cx="3239167" cy="2945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1800" b="1" dirty="0">
                  <a:solidFill>
                    <a:srgbClr val="38AA00"/>
                  </a:solidFill>
                  <a:latin typeface="Work Sans Light" pitchFamily="2" charset="77"/>
                </a:rPr>
                <a:t>Tercer Trimestre</a:t>
              </a:r>
            </a:p>
          </p:txBody>
        </p:sp>
      </p:grpSp>
      <p:sp>
        <p:nvSpPr>
          <p:cNvPr id="17" name="CuadroTexto 16">
            <a:extLst>
              <a:ext uri="{FF2B5EF4-FFF2-40B4-BE49-F238E27FC236}">
                <a16:creationId xmlns:a16="http://schemas.microsoft.com/office/drawing/2014/main" id="{9BECBF41-5245-C57F-50B5-C5EEB7FC3623}"/>
              </a:ext>
            </a:extLst>
          </p:cNvPr>
          <p:cNvSpPr txBox="1"/>
          <p:nvPr/>
        </p:nvSpPr>
        <p:spPr>
          <a:xfrm>
            <a:off x="5138058" y="3116381"/>
            <a:ext cx="3854368" cy="523220"/>
          </a:xfrm>
          <a:prstGeom prst="rect">
            <a:avLst/>
          </a:prstGeom>
          <a:noFill/>
        </p:spPr>
        <p:txBody>
          <a:bodyPr wrap="square" rtlCol="0">
            <a:spAutoFit/>
          </a:bodyPr>
          <a:lstStyle/>
          <a:p>
            <a:pPr marL="171450" indent="-171450">
              <a:buFont typeface="Arial" panose="020B0604020202020204" pitchFamily="34" charset="0"/>
              <a:buChar char="•"/>
            </a:pPr>
            <a:r>
              <a:rPr lang="es-MX" sz="1400" dirty="0">
                <a:latin typeface="Work Sans Light" pitchFamily="2" charset="77"/>
              </a:rPr>
              <a:t>Planeación de Pruebas</a:t>
            </a:r>
          </a:p>
          <a:p>
            <a:pPr marL="171450" indent="-171450">
              <a:buFont typeface="Arial" panose="020B0604020202020204" pitchFamily="34" charset="0"/>
              <a:buChar char="•"/>
            </a:pPr>
            <a:r>
              <a:rPr lang="es-MX" sz="1400" dirty="0">
                <a:latin typeface="Work Sans Light" pitchFamily="2" charset="77"/>
              </a:rPr>
              <a:t>Ejecución de Pruebas</a:t>
            </a:r>
          </a:p>
        </p:txBody>
      </p:sp>
      <p:grpSp>
        <p:nvGrpSpPr>
          <p:cNvPr id="18" name="Grupo 17">
            <a:extLst>
              <a:ext uri="{FF2B5EF4-FFF2-40B4-BE49-F238E27FC236}">
                <a16:creationId xmlns:a16="http://schemas.microsoft.com/office/drawing/2014/main" id="{FCE1BD1E-1D51-E6AF-F105-4076FC2D57D5}"/>
              </a:ext>
            </a:extLst>
          </p:cNvPr>
          <p:cNvGrpSpPr/>
          <p:nvPr/>
        </p:nvGrpSpPr>
        <p:grpSpPr>
          <a:xfrm>
            <a:off x="4909555" y="4722219"/>
            <a:ext cx="3239167" cy="347863"/>
            <a:chOff x="668953" y="1494678"/>
            <a:chExt cx="3239167" cy="347863"/>
          </a:xfrm>
        </p:grpSpPr>
        <p:sp>
          <p:nvSpPr>
            <p:cNvPr id="19" name="Rectángulo 18">
              <a:extLst>
                <a:ext uri="{FF2B5EF4-FFF2-40B4-BE49-F238E27FC236}">
                  <a16:creationId xmlns:a16="http://schemas.microsoft.com/office/drawing/2014/main" id="{D3E0EBBB-9147-55CA-2418-498278054CFC}"/>
                </a:ext>
              </a:extLst>
            </p:cNvPr>
            <p:cNvSpPr/>
            <p:nvPr/>
          </p:nvSpPr>
          <p:spPr>
            <a:xfrm>
              <a:off x="781688" y="1796822"/>
              <a:ext cx="971956" cy="4571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0" name="Título 1">
              <a:extLst>
                <a:ext uri="{FF2B5EF4-FFF2-40B4-BE49-F238E27FC236}">
                  <a16:creationId xmlns:a16="http://schemas.microsoft.com/office/drawing/2014/main" id="{D72BC5B6-99EB-82E2-EF05-9C929BA4026B}"/>
                </a:ext>
              </a:extLst>
            </p:cNvPr>
            <p:cNvSpPr txBox="1">
              <a:spLocks/>
            </p:cNvSpPr>
            <p:nvPr/>
          </p:nvSpPr>
          <p:spPr>
            <a:xfrm>
              <a:off x="668953" y="1494678"/>
              <a:ext cx="3239167" cy="2945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1800" b="1" dirty="0">
                  <a:solidFill>
                    <a:srgbClr val="38AA00"/>
                  </a:solidFill>
                  <a:latin typeface="Work Sans Light" pitchFamily="2" charset="77"/>
                </a:rPr>
                <a:t>Cuarto Trimestre</a:t>
              </a:r>
            </a:p>
          </p:txBody>
        </p:sp>
      </p:grpSp>
      <p:sp>
        <p:nvSpPr>
          <p:cNvPr id="21" name="CuadroTexto 20">
            <a:extLst>
              <a:ext uri="{FF2B5EF4-FFF2-40B4-BE49-F238E27FC236}">
                <a16:creationId xmlns:a16="http://schemas.microsoft.com/office/drawing/2014/main" id="{FB827742-8BEF-4F91-027F-86DDB60084FD}"/>
              </a:ext>
            </a:extLst>
          </p:cNvPr>
          <p:cNvSpPr txBox="1"/>
          <p:nvPr/>
        </p:nvSpPr>
        <p:spPr>
          <a:xfrm>
            <a:off x="5138058" y="5219739"/>
            <a:ext cx="3854368" cy="738664"/>
          </a:xfrm>
          <a:prstGeom prst="rect">
            <a:avLst/>
          </a:prstGeom>
          <a:noFill/>
        </p:spPr>
        <p:txBody>
          <a:bodyPr wrap="square" rtlCol="0">
            <a:spAutoFit/>
          </a:bodyPr>
          <a:lstStyle/>
          <a:p>
            <a:pPr marL="171450" indent="-171450">
              <a:buFont typeface="Arial" panose="020B0604020202020204" pitchFamily="34" charset="0"/>
              <a:buChar char="•"/>
            </a:pPr>
            <a:r>
              <a:rPr lang="es-MX" sz="1400" dirty="0">
                <a:latin typeface="Work Sans Light" pitchFamily="2" charset="77"/>
              </a:rPr>
              <a:t>Manual de Instalación </a:t>
            </a:r>
          </a:p>
          <a:p>
            <a:pPr marL="171450" indent="-171450">
              <a:buFont typeface="Arial" panose="020B0604020202020204" pitchFamily="34" charset="0"/>
              <a:buChar char="•"/>
            </a:pPr>
            <a:r>
              <a:rPr lang="es-MX" sz="1400" dirty="0">
                <a:latin typeface="Work Sans Light" pitchFamily="2" charset="77"/>
              </a:rPr>
              <a:t>Configuración del Servidor de Aplicaciones</a:t>
            </a:r>
          </a:p>
          <a:p>
            <a:pPr marL="171450" indent="-171450">
              <a:buFont typeface="Arial" panose="020B0604020202020204" pitchFamily="34" charset="0"/>
              <a:buChar char="•"/>
            </a:pPr>
            <a:r>
              <a:rPr lang="es-MX" sz="1400" dirty="0">
                <a:latin typeface="Work Sans Light" pitchFamily="2" charset="77"/>
              </a:rPr>
              <a:t>Configuración del Servidor de BBDD</a:t>
            </a:r>
          </a:p>
        </p:txBody>
      </p:sp>
      <p:grpSp>
        <p:nvGrpSpPr>
          <p:cNvPr id="22" name="Grupo 21">
            <a:extLst>
              <a:ext uri="{FF2B5EF4-FFF2-40B4-BE49-F238E27FC236}">
                <a16:creationId xmlns:a16="http://schemas.microsoft.com/office/drawing/2014/main" id="{648580DD-9095-EA4C-4032-6CDC04F6E419}"/>
              </a:ext>
            </a:extLst>
          </p:cNvPr>
          <p:cNvGrpSpPr/>
          <p:nvPr/>
        </p:nvGrpSpPr>
        <p:grpSpPr>
          <a:xfrm>
            <a:off x="8350341" y="3568215"/>
            <a:ext cx="3239167" cy="347863"/>
            <a:chOff x="668953" y="1494678"/>
            <a:chExt cx="3239167" cy="347863"/>
          </a:xfrm>
        </p:grpSpPr>
        <p:sp>
          <p:nvSpPr>
            <p:cNvPr id="23" name="Rectángulo 22">
              <a:extLst>
                <a:ext uri="{FF2B5EF4-FFF2-40B4-BE49-F238E27FC236}">
                  <a16:creationId xmlns:a16="http://schemas.microsoft.com/office/drawing/2014/main" id="{13A95A63-0013-4AF3-D361-E97A2D8BAA5A}"/>
                </a:ext>
              </a:extLst>
            </p:cNvPr>
            <p:cNvSpPr/>
            <p:nvPr/>
          </p:nvSpPr>
          <p:spPr>
            <a:xfrm>
              <a:off x="781688" y="1796822"/>
              <a:ext cx="971956" cy="4571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4" name="Título 1">
              <a:extLst>
                <a:ext uri="{FF2B5EF4-FFF2-40B4-BE49-F238E27FC236}">
                  <a16:creationId xmlns:a16="http://schemas.microsoft.com/office/drawing/2014/main" id="{AF8ED4B5-B0F0-DA61-CE59-7D3164807EBC}"/>
                </a:ext>
              </a:extLst>
            </p:cNvPr>
            <p:cNvSpPr txBox="1">
              <a:spLocks/>
            </p:cNvSpPr>
            <p:nvPr/>
          </p:nvSpPr>
          <p:spPr>
            <a:xfrm>
              <a:off x="668953" y="1494678"/>
              <a:ext cx="3239167" cy="29459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1800" b="1" dirty="0">
                  <a:solidFill>
                    <a:srgbClr val="38AA00"/>
                  </a:solidFill>
                  <a:latin typeface="Work Sans Light" pitchFamily="2" charset="77"/>
                </a:rPr>
                <a:t>Quinto Trimestre</a:t>
              </a:r>
            </a:p>
          </p:txBody>
        </p:sp>
      </p:grpSp>
      <p:sp>
        <p:nvSpPr>
          <p:cNvPr id="25" name="CuadroTexto 24">
            <a:extLst>
              <a:ext uri="{FF2B5EF4-FFF2-40B4-BE49-F238E27FC236}">
                <a16:creationId xmlns:a16="http://schemas.microsoft.com/office/drawing/2014/main" id="{ECCF2336-24C1-7B7D-C6B6-ECB6A1DAFDEA}"/>
              </a:ext>
            </a:extLst>
          </p:cNvPr>
          <p:cNvSpPr txBox="1"/>
          <p:nvPr/>
        </p:nvSpPr>
        <p:spPr>
          <a:xfrm>
            <a:off x="8578844" y="4065735"/>
            <a:ext cx="2750090" cy="738664"/>
          </a:xfrm>
          <a:prstGeom prst="rect">
            <a:avLst/>
          </a:prstGeom>
          <a:noFill/>
        </p:spPr>
        <p:txBody>
          <a:bodyPr wrap="square" rtlCol="0">
            <a:spAutoFit/>
          </a:bodyPr>
          <a:lstStyle/>
          <a:p>
            <a:pPr marL="171450" indent="-171450">
              <a:buFont typeface="Arial" panose="020B0604020202020204" pitchFamily="34" charset="0"/>
              <a:buChar char="•"/>
            </a:pPr>
            <a:r>
              <a:rPr lang="es-MX" sz="1400" dirty="0">
                <a:latin typeface="Work Sans Light" pitchFamily="2" charset="77"/>
              </a:rPr>
              <a:t>Manual de Usuario</a:t>
            </a:r>
          </a:p>
          <a:p>
            <a:pPr marL="171450" indent="-171450">
              <a:buFont typeface="Arial" panose="020B0604020202020204" pitchFamily="34" charset="0"/>
              <a:buChar char="•"/>
            </a:pPr>
            <a:r>
              <a:rPr lang="es-MX" sz="1400" dirty="0">
                <a:latin typeface="Work Sans Light" pitchFamily="2" charset="77"/>
              </a:rPr>
              <a:t>Sistema de Información </a:t>
            </a:r>
            <a:r>
              <a:rPr lang="es-MX" sz="1400">
                <a:latin typeface="Work Sans Light" pitchFamily="2" charset="77"/>
              </a:rPr>
              <a:t>Web – Servidor </a:t>
            </a:r>
            <a:r>
              <a:rPr lang="es-MX" sz="1400" dirty="0">
                <a:latin typeface="Work Sans Light" pitchFamily="2" charset="77"/>
              </a:rPr>
              <a:t>Externo</a:t>
            </a:r>
          </a:p>
        </p:txBody>
      </p:sp>
      <p:pic>
        <p:nvPicPr>
          <p:cNvPr id="26" name="Picture 6">
            <a:extLst>
              <a:ext uri="{FF2B5EF4-FFF2-40B4-BE49-F238E27FC236}">
                <a16:creationId xmlns:a16="http://schemas.microsoft.com/office/drawing/2014/main" id="{9736F48F-238B-49E9-BD6C-AA9D5C711D1E}"/>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25679" b="15294"/>
          <a:stretch/>
        </p:blipFill>
        <p:spPr bwMode="auto">
          <a:xfrm>
            <a:off x="9778196" y="160418"/>
            <a:ext cx="1352366" cy="111340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8">
            <a:extLst>
              <a:ext uri="{FF2B5EF4-FFF2-40B4-BE49-F238E27FC236}">
                <a16:creationId xmlns:a16="http://schemas.microsoft.com/office/drawing/2014/main" id="{072240F6-A406-441C-951A-46C7FD7FE4D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457359" y="104277"/>
            <a:ext cx="1479562" cy="1225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3109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Imagen que contiene Interfaz de usuario gráfica&#10;&#10;Descripción generada automáticamente">
            <a:extLst>
              <a:ext uri="{FF2B5EF4-FFF2-40B4-BE49-F238E27FC236}">
                <a16:creationId xmlns:a16="http://schemas.microsoft.com/office/drawing/2014/main" id="{A01EB75E-8874-42DD-11A3-2D5CA1D238B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7622032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3862</TotalTime>
  <Words>887</Words>
  <Application>Microsoft Office PowerPoint</Application>
  <PresentationFormat>Panorámica</PresentationFormat>
  <Paragraphs>80</Paragraphs>
  <Slides>11</Slides>
  <Notes>2</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11</vt:i4>
      </vt:variant>
    </vt:vector>
  </HeadingPairs>
  <TitlesOfParts>
    <vt:vector size="19" baseType="lpstr">
      <vt:lpstr>Arial</vt:lpstr>
      <vt:lpstr>Calibri</vt:lpstr>
      <vt:lpstr>Calibri Light</vt:lpstr>
      <vt:lpstr>Times New Roman</vt:lpstr>
      <vt:lpstr>Work Sans</vt:lpstr>
      <vt:lpstr>Work Sans Light</vt:lpstr>
      <vt:lpstr>Work Sans Medium</vt:lpstr>
      <vt:lpstr>Tema de Office</vt:lpstr>
      <vt:lpstr>Presentación de PowerPoint</vt:lpstr>
      <vt:lpstr>Presentación de PowerPoint</vt:lpstr>
      <vt:lpstr>Presentación de PowerPoint</vt:lpstr>
      <vt:lpstr>Presentación de PowerPoint</vt:lpstr>
      <vt:lpstr>Problema</vt:lpstr>
      <vt:lpstr>Presentación de PowerPoint</vt:lpstr>
      <vt:lpstr>Justificación</vt:lpstr>
      <vt:lpstr>Presentación de PowerPoint</vt:lpstr>
      <vt:lpstr>Delimitación</vt:lpstr>
      <vt:lpstr>Entregables Proyecto Formativo por Trimestre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SENA</cp:lastModifiedBy>
  <cp:revision>103</cp:revision>
  <dcterms:created xsi:type="dcterms:W3CDTF">2020-10-01T23:51:28Z</dcterms:created>
  <dcterms:modified xsi:type="dcterms:W3CDTF">2026-05-13T19:55:55Z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ies>
</file>