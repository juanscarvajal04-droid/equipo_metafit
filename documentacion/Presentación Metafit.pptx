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468" r:id="rId2"/>
    <p:sldId id="503" r:id="rId3"/>
    <p:sldId id="499" r:id="rId4"/>
    <p:sldId id="504" r:id="rId5"/>
    <p:sldId id="502" r:id="rId6"/>
    <p:sldId id="508" r:id="rId7"/>
    <p:sldId id="509" r:id="rId8"/>
    <p:sldId id="518" r:id="rId9"/>
    <p:sldId id="512" r:id="rId10"/>
    <p:sldId id="515" r:id="rId11"/>
    <p:sldId id="513" r:id="rId12"/>
    <p:sldId id="505" r:id="rId13"/>
    <p:sldId id="264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86369"/>
  </p:normalViewPr>
  <p:slideViewPr>
    <p:cSldViewPr snapToGrid="0">
      <p:cViewPr varScale="1">
        <p:scale>
          <a:sx n="70" d="100"/>
          <a:sy n="70" d="100"/>
        </p:scale>
        <p:origin x="65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=""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827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=""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=""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=""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=""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=""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20/09/2026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2" r:id="rId11"/>
    <p:sldLayoutId id="2147483659" r:id="rId12"/>
    <p:sldLayoutId id="2147483663" r:id="rId13"/>
    <p:sldLayoutId id="2147483675" r:id="rId14"/>
    <p:sldLayoutId id="214748367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178298" y="2551836"/>
            <a:ext cx="64536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META</a:t>
            </a:r>
          </a:p>
          <a:p>
            <a:pPr algn="ctr"/>
            <a:r>
              <a:rPr lang="es-E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FIT</a:t>
            </a:r>
            <a:endParaRPr lang="es-ES" sz="4000" b="1" dirty="0">
              <a:solidFill>
                <a:schemeClr val="tx1">
                  <a:lumMod val="75000"/>
                  <a:lumOff val="25000"/>
                </a:schemeClr>
              </a:solidFill>
              <a:latin typeface="Work Sans" pitchFamily="2" charset="77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="" xmlns:a16="http://schemas.microsoft.com/office/drawing/2014/main" id="{C11B7B0A-E5A8-45F7-A86C-7679689F92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8463315" y="2431915"/>
            <a:ext cx="3178362" cy="261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="" xmlns:a16="http://schemas.microsoft.com/office/drawing/2014/main" id="{8F6AC25D-232B-444A-B533-1CF1C67A4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340" y="2692135"/>
            <a:ext cx="2844629" cy="235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B78A6207-2D79-A9F8-E09D-30C60C0067DF}"/>
              </a:ext>
            </a:extLst>
          </p:cNvPr>
          <p:cNvSpPr txBox="1"/>
          <p:nvPr/>
        </p:nvSpPr>
        <p:spPr>
          <a:xfrm>
            <a:off x="4786989" y="675443"/>
            <a:ext cx="261802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META</a:t>
            </a:r>
          </a:p>
          <a:p>
            <a:pPr algn="ctr"/>
            <a:r>
              <a:rPr lang="es-MX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FIT</a:t>
            </a:r>
            <a:endParaRPr lang="es-CO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="" xmlns:a16="http://schemas.microsoft.com/office/drawing/2014/main" id="{7093B0CC-07FB-12E7-E7C8-581324B7AF33}"/>
              </a:ext>
            </a:extLst>
          </p:cNvPr>
          <p:cNvCxnSpPr>
            <a:cxnSpLocks/>
          </p:cNvCxnSpPr>
          <p:nvPr/>
        </p:nvCxnSpPr>
        <p:spPr>
          <a:xfrm>
            <a:off x="5227899" y="3321934"/>
            <a:ext cx="17362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="" xmlns:a16="http://schemas.microsoft.com/office/drawing/2014/main" id="{9FA07BD2-A8DB-FF10-1E30-572887632351}"/>
              </a:ext>
            </a:extLst>
          </p:cNvPr>
          <p:cNvSpPr txBox="1"/>
          <p:nvPr/>
        </p:nvSpPr>
        <p:spPr>
          <a:xfrm>
            <a:off x="4168816" y="3463724"/>
            <a:ext cx="3854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Sofia</a:t>
            </a:r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s-MX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Beatriz Astudillo </a:t>
            </a:r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Idrogo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Juan </a:t>
            </a:r>
            <a:r>
              <a:rPr lang="es-MX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Sebastián Carvajal Corredor</a:t>
            </a:r>
            <a:endParaRPr lang="es-MX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Carlos Andrés Rodríguez Tique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Kevin Sebastian García Robayo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Isabella Caldas </a:t>
            </a:r>
            <a:r>
              <a:rPr lang="es-MX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Pérez</a:t>
            </a:r>
            <a:endParaRPr lang="es-CO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="" xmlns:a16="http://schemas.microsoft.com/office/drawing/2014/main" id="{2F385990-7F30-A8ED-0FEA-F8EAC01BD49D}"/>
              </a:ext>
            </a:extLst>
          </p:cNvPr>
          <p:cNvSpPr txBox="1"/>
          <p:nvPr/>
        </p:nvSpPr>
        <p:spPr>
          <a:xfrm>
            <a:off x="1068888" y="5279998"/>
            <a:ext cx="10054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Servicio Nacional de Aprendizaje –SENA, Centro de Electricidad Electrónica y Telecomunicaciones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Técnico en Programación de Software - TPS, Tercer Trimestre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Instructor Albeiro Ramos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Bogotá, 4 de Febrero de 2025</a:t>
            </a:r>
            <a:endParaRPr lang="es-CO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20787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4313578" y="1119174"/>
            <a:ext cx="293997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4338630" y="827396"/>
            <a:ext cx="351474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dirty="0">
                <a:solidFill>
                  <a:srgbClr val="38AA00"/>
                </a:solidFill>
                <a:latin typeface="Work Sans Light" pitchFamily="2" charset="77"/>
              </a:rPr>
              <a:t>Introducción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=""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2845849" y="1795772"/>
            <a:ext cx="614012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 err="1">
                <a:cs typeface="Times New Roman" panose="02020603050405020304" pitchFamily="18" charset="0"/>
              </a:rPr>
              <a:t>MetaFit</a:t>
            </a:r>
            <a:r>
              <a:rPr lang="es-MX" sz="1600" dirty="0">
                <a:cs typeface="Times New Roman" panose="02020603050405020304" pitchFamily="18" charset="0"/>
              </a:rPr>
              <a:t> es un aplicativo web y móvil desarrollado para Sport </a:t>
            </a:r>
            <a:r>
              <a:rPr lang="es-MX" sz="1600" dirty="0" err="1">
                <a:cs typeface="Times New Roman" panose="02020603050405020304" pitchFamily="18" charset="0"/>
              </a:rPr>
              <a:t>Gym</a:t>
            </a:r>
            <a:r>
              <a:rPr lang="es-MX" sz="1600" dirty="0">
                <a:cs typeface="Times New Roman" panose="02020603050405020304" pitchFamily="18" charset="0"/>
              </a:rPr>
              <a:t> Sede 80 (Bogotá), que nace para resolver los problemas de gestión manual del gimnasio: registro de afiliados en papel, ausencia de métricas administrativas y financieras, planes de entrenamiento y nutrición genéricos que no consideraban restricciones médicas, control de pagos sin trazabilidad, y falta de un canal digital para que los afiliados consultaran su progreso. </a:t>
            </a:r>
            <a:endParaRPr lang="es-MX" sz="1600" dirty="0" smtClean="0">
              <a:cs typeface="Times New Roman" panose="02020603050405020304" pitchFamily="18" charset="0"/>
            </a:endParaRPr>
          </a:p>
          <a:p>
            <a:pPr algn="just"/>
            <a:endParaRPr lang="es-MX" sz="1600" dirty="0">
              <a:cs typeface="Times New Roman" panose="02020603050405020304" pitchFamily="18" charset="0"/>
            </a:endParaRPr>
          </a:p>
          <a:p>
            <a:pPr algn="just"/>
            <a:r>
              <a:rPr lang="es-MX" sz="1600" dirty="0" smtClean="0">
                <a:cs typeface="Times New Roman" panose="02020603050405020304" pitchFamily="18" charset="0"/>
              </a:rPr>
              <a:t>La </a:t>
            </a:r>
            <a:r>
              <a:rPr lang="es-MX" sz="1600" dirty="0">
                <a:cs typeface="Times New Roman" panose="02020603050405020304" pitchFamily="18" charset="0"/>
              </a:rPr>
              <a:t>solución se compone de dos frentes complementarios: una aplicación web orientada a la gestión administrativa (usada por Administradores, Recepcionistas y Entrenadores desde el gimnasio) y una aplicación móvil orientada a los afiliados, pensada para que consulten su rutina, dieta y progreso desde su celular sin depender de un computador. Su alcance inicial corresponde a Sport </a:t>
            </a:r>
            <a:r>
              <a:rPr lang="es-MX" sz="1600" dirty="0" err="1">
                <a:cs typeface="Times New Roman" panose="02020603050405020304" pitchFamily="18" charset="0"/>
              </a:rPr>
              <a:t>Gym</a:t>
            </a:r>
            <a:r>
              <a:rPr lang="es-MX" sz="1600" dirty="0">
                <a:cs typeface="Times New Roman" panose="02020603050405020304" pitchFamily="18" charset="0"/>
              </a:rPr>
              <a:t> Sede 80 e incluye los módulos de afiliados, personal, rutinas, nutrición, pagos/membresía, progreso físico y notificaciones.</a:t>
            </a:r>
            <a:endParaRPr lang="es-CO" sz="1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38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="" xmlns:a16="http://schemas.microsoft.com/office/drawing/2014/main" id="{62CAF686-2B1F-2A4A-A0F2-CAE3CF59E65B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10515600" cy="741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chemeClr val="bg1"/>
                </a:solidFill>
                <a:latin typeface="Work Sans Medium" pitchFamily="2" charset="77"/>
              </a:rPr>
              <a:t>M</a:t>
            </a:r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ETA FIT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7779D7A8-BEDD-C9DB-4CEE-7225220AFBCD}"/>
              </a:ext>
            </a:extLst>
          </p:cNvPr>
          <p:cNvSpPr txBox="1"/>
          <p:nvPr/>
        </p:nvSpPr>
        <p:spPr>
          <a:xfrm>
            <a:off x="7055878" y="1158252"/>
            <a:ext cx="502017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Work Sans Light" pitchFamily="2" charset="77"/>
              </a:rPr>
              <a:t>Problema</a:t>
            </a:r>
          </a:p>
          <a:p>
            <a:r>
              <a:rPr lang="es-CO" sz="2800" b="1" dirty="0">
                <a:latin typeface="Work Sans Light" pitchFamily="2" charset="77"/>
              </a:rPr>
              <a:t>Objetivos</a:t>
            </a:r>
          </a:p>
          <a:p>
            <a:r>
              <a:rPr lang="es-CO" sz="2800" b="1" dirty="0">
                <a:latin typeface="Work Sans Light" pitchFamily="2" charset="77"/>
              </a:rPr>
              <a:t>Justificación</a:t>
            </a:r>
          </a:p>
          <a:p>
            <a:r>
              <a:rPr lang="es-CO" sz="2800" b="1" dirty="0">
                <a:latin typeface="Work Sans Light" pitchFamily="2" charset="77"/>
              </a:rPr>
              <a:t>Alcance</a:t>
            </a:r>
          </a:p>
          <a:p>
            <a:r>
              <a:rPr lang="es-CO" sz="2800" b="1" dirty="0">
                <a:latin typeface="Work Sans Light" pitchFamily="2" charset="77"/>
              </a:rPr>
              <a:t>Selección del Stack</a:t>
            </a:r>
          </a:p>
          <a:p>
            <a:r>
              <a:rPr lang="es-CO" sz="2800" b="1" dirty="0" smtClean="0">
                <a:latin typeface="Work Sans Light" pitchFamily="2" charset="77"/>
              </a:rPr>
              <a:t>Delimitación</a:t>
            </a:r>
            <a:endParaRPr lang="es-CO" sz="2800" b="1" dirty="0">
              <a:latin typeface="Work Sans Light" pitchFamily="2" charset="77"/>
            </a:endParaRPr>
          </a:p>
          <a:p>
            <a:r>
              <a:rPr lang="es-CO" sz="2800" b="1" dirty="0">
                <a:latin typeface="Work Sans Light" pitchFamily="2" charset="77"/>
              </a:rPr>
              <a:t>Entregables Trimestre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="" xmlns:a16="http://schemas.microsoft.com/office/drawing/2014/main" id="{420EB6CD-517F-4328-A1EF-5051D5BF2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37" y="1698312"/>
            <a:ext cx="2908674" cy="2409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C4FCF54-8C7A-44C1-A941-A912A90AE0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3648811" y="1694013"/>
            <a:ext cx="3124968" cy="2572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048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Problema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873316" y="2189744"/>
            <a:ext cx="924830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/>
              <a:t>Antes de </a:t>
            </a:r>
            <a:r>
              <a:rPr lang="es-MX" sz="1600" dirty="0" err="1"/>
              <a:t>MetaFit</a:t>
            </a:r>
            <a:r>
              <a:rPr lang="es-MX" sz="1600" dirty="0"/>
              <a:t>, Sport </a:t>
            </a:r>
            <a:r>
              <a:rPr lang="es-MX" sz="1600" dirty="0" err="1"/>
              <a:t>Gym</a:t>
            </a:r>
            <a:r>
              <a:rPr lang="es-MX" sz="1600" dirty="0"/>
              <a:t> Sede 80 gestionaba su operación de forma manual y fragmentada: los afiliados se registraban en formularios de papel archivados en carpetas físicas, lo que generaba pérdida de documentos, duplicación de registros y dificultad para buscar información. La dirección no contaba con métricas para responder preguntas básicas sobre afiliados activos, ingresos mensuales o membresías próximas a vencer. Los entrenadores diseñaban rutinas y dietas en hojas de cálculo sin considerar de forma sistemática las restricciones médicas, el nivel de experiencia o la disponibilidad de cada afiliado. Los afiliados no tenían ningún canal digital para consultar su plan o su progreso. Y los pagos se registraban en cuadernos, lo que dificultaba el control y la auditoría de ingresos</a:t>
            </a:r>
            <a:r>
              <a:rPr lang="es-MX" sz="1600" dirty="0" smtClean="0"/>
              <a:t>.</a:t>
            </a:r>
          </a:p>
          <a:p>
            <a:pPr algn="just"/>
            <a:endParaRPr lang="es-MX" sz="1600" b="1" i="0" dirty="0">
              <a:effectLst/>
            </a:endParaRPr>
          </a:p>
          <a:p>
            <a:pPr algn="just"/>
            <a:endParaRPr lang="es-MX" sz="1600" b="1" i="0" dirty="0" smtClean="0">
              <a:effectLst/>
            </a:endParaRPr>
          </a:p>
          <a:p>
            <a:pPr algn="just"/>
            <a:r>
              <a:rPr lang="es-MX" sz="1600" b="1" i="0" dirty="0" smtClean="0">
                <a:effectLst/>
              </a:rPr>
              <a:t>Pregunta </a:t>
            </a:r>
            <a:r>
              <a:rPr lang="es-MX" sz="1600" b="1" i="0" dirty="0">
                <a:effectLst/>
              </a:rPr>
              <a:t>problema:</a:t>
            </a:r>
            <a:endParaRPr lang="es-MX" sz="1600" dirty="0">
              <a:effectLst/>
            </a:endParaRPr>
          </a:p>
          <a:p>
            <a:pPr algn="just"/>
            <a:r>
              <a:rPr lang="es-MX" sz="1600" dirty="0"/>
              <a:t>¿Cómo optimizar la gestión administrativa, la asignación de planes de entrenamiento y nutrición, y el control de pagos de los afiliados del gimnasio Sport </a:t>
            </a:r>
            <a:r>
              <a:rPr lang="es-MX" sz="1600" dirty="0" err="1"/>
              <a:t>Gym</a:t>
            </a:r>
            <a:r>
              <a:rPr lang="es-MX" sz="1600" dirty="0"/>
              <a:t> Sede 80, mediante una solución tecnológica que centralice la </a:t>
            </a:r>
            <a:r>
              <a:rPr lang="es-MX" sz="1600" dirty="0" smtClean="0"/>
              <a:t>información y </a:t>
            </a:r>
            <a:r>
              <a:rPr lang="es-MX" sz="1600" dirty="0"/>
              <a:t>respete las restricciones médicas de cada </a:t>
            </a:r>
            <a:r>
              <a:rPr lang="es-MX" sz="1600" dirty="0" smtClean="0"/>
              <a:t>usuario?</a:t>
            </a:r>
            <a:endParaRPr lang="es-MX" sz="1600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F42ABE9-9E87-48C8-A063-00868637FD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696909" y="216561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="" xmlns:a16="http://schemas.microsoft.com/office/drawing/2014/main" id="{44963E08-CBD3-4E94-862A-C099FBC8F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88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4130979" y="344435"/>
            <a:ext cx="3527266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=""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3811566" y="159299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General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=""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2862608" y="793496"/>
            <a:ext cx="61531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/>
              <a:t>Desarrollar un aplicativo web y móvil denominado </a:t>
            </a:r>
            <a:r>
              <a:rPr lang="es-MX" sz="1600" dirty="0" err="1"/>
              <a:t>MetaFit</a:t>
            </a:r>
            <a:r>
              <a:rPr lang="es-MX" sz="1600" dirty="0"/>
              <a:t>, orientado al seguimiento y apoyo de los procesos de </a:t>
            </a:r>
            <a:r>
              <a:rPr lang="es-MX" sz="1600" dirty="0" smtClean="0"/>
              <a:t>afiliación, entrenamiento</a:t>
            </a:r>
            <a:r>
              <a:rPr lang="es-MX" sz="1600" dirty="0"/>
              <a:t>, nutrición y control del progreso físico de los usuarios de un gimnasio, con el fin de mejorar la gestión administrativa del gimnasio Sport </a:t>
            </a:r>
            <a:r>
              <a:rPr lang="es-MX" sz="1600" dirty="0" err="1"/>
              <a:t>Gym</a:t>
            </a:r>
            <a:r>
              <a:rPr lang="es-MX" sz="1600" dirty="0"/>
              <a:t> Sede 80 y optimizar la experiencia de afiliación, entrenamiento, nutrición y control de pagos de sus usuarios.</a:t>
            </a:r>
            <a:endParaRPr lang="es-MX" sz="1600" dirty="0">
              <a:latin typeface="Work Sans Light" pitchFamily="2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="" xmlns:a16="http://schemas.microsoft.com/office/drawing/2014/main" id="{F5CB49A8-7161-5037-729C-90C8765D1574}"/>
              </a:ext>
            </a:extLst>
          </p:cNvPr>
          <p:cNvSpPr/>
          <p:nvPr/>
        </p:nvSpPr>
        <p:spPr>
          <a:xfrm>
            <a:off x="3811566" y="2739425"/>
            <a:ext cx="4166093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Título 1">
            <a:extLst>
              <a:ext uri="{FF2B5EF4-FFF2-40B4-BE49-F238E27FC236}">
                <a16:creationId xmlns="" xmlns:a16="http://schemas.microsoft.com/office/drawing/2014/main" id="{802FD35A-EA47-F375-CD6A-B61F8B61B3AD}"/>
              </a:ext>
            </a:extLst>
          </p:cNvPr>
          <p:cNvSpPr txBox="1">
            <a:spLocks/>
          </p:cNvSpPr>
          <p:nvPr/>
        </p:nvSpPr>
        <p:spPr>
          <a:xfrm>
            <a:off x="3900675" y="2481498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Específicos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="" xmlns:a16="http://schemas.microsoft.com/office/drawing/2014/main" id="{FC78F7BD-2A34-855F-15C3-306C2603A128}"/>
              </a:ext>
            </a:extLst>
          </p:cNvPr>
          <p:cNvSpPr txBox="1"/>
          <p:nvPr/>
        </p:nvSpPr>
        <p:spPr>
          <a:xfrm>
            <a:off x="3678595" y="3158096"/>
            <a:ext cx="4834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2272561" y="3320204"/>
            <a:ext cx="790866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VE" altLang="es-VE" sz="1600" dirty="0"/>
              <a:t>Desarrollar un módulo de gestión de usuarios administrativos para administrar el personal mediante roles y permisos.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VE" altLang="es-VE" sz="1600" dirty="0"/>
              <a:t>Desarrollar un módulo de gestión de afiliados para centralizar el registro y actualización de su información.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VE" altLang="es-VE" sz="1600" dirty="0"/>
              <a:t>Desarrollar un módulo de gestión de rutinas para asignar planes de entrenamiento personalizados.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VE" altLang="es-VE" sz="1600" dirty="0"/>
              <a:t>Desarrollar un módulo de planes de nutrición para asignar dietas personalizadas según las necesidades del afiliado.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VE" altLang="es-VE" sz="1600" dirty="0"/>
              <a:t>Desarrollar un módulo de gestión de membresías y pagos para controlar afiliaciones, registrar pagos y generar reportes.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VE" altLang="es-VE" sz="1600" dirty="0"/>
              <a:t>Desarrollar un módulo de gestión de progreso para registrar y consultar la evolución física de los afiliados. </a:t>
            </a:r>
          </a:p>
        </p:txBody>
      </p:sp>
    </p:spTree>
    <p:extLst>
      <p:ext uri="{BB962C8B-B14F-4D97-AF65-F5344CB8AC3E}">
        <p14:creationId xmlns:p14="http://schemas.microsoft.com/office/powerpoint/2010/main" val="591205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268" y="54336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Justificación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843304" y="1798859"/>
            <a:ext cx="76140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 err="1"/>
              <a:t>MetaFit</a:t>
            </a:r>
            <a:r>
              <a:rPr lang="es-MX" sz="1600" dirty="0"/>
              <a:t> </a:t>
            </a:r>
            <a:r>
              <a:rPr lang="es-MX" sz="1600" dirty="0" smtClean="0"/>
              <a:t>centraliza </a:t>
            </a:r>
            <a:r>
              <a:rPr lang="es-MX" sz="1600" dirty="0"/>
              <a:t>en una sola plataforma procesos que antes estaban dispersos en papel, hojas de cálculo y cuadernos, beneficiando tanto al personal administrativo como a los afiliados.</a:t>
            </a:r>
            <a:endParaRPr lang="es-MX" sz="1600" b="1" dirty="0">
              <a:latin typeface="Work Sans Light" pitchFamily="2" charset="77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="" xmlns:a16="http://schemas.microsoft.com/office/drawing/2014/main" id="{243B358C-450B-48A8-9038-BEF3E3045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="" xmlns:a16="http://schemas.microsoft.com/office/drawing/2014/main" id="{21D8FE14-DD97-4A01-BCB7-738350CDD6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84570" y="2457987"/>
            <a:ext cx="991323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VE" altLang="es-VE" sz="1600" b="1" i="0" u="non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sz="1600" b="1" i="0" u="non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Módulo de usuarios administrativos: </a:t>
            </a:r>
            <a:r>
              <a:rPr kumimoji="0" lang="es-VE" altLang="es-VE" sz="1600" b="0" i="0" u="non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gestiona el personal del gimnasio con roles diferenciados (</a:t>
            </a:r>
            <a:r>
              <a:rPr kumimoji="0" lang="es-VE" altLang="es-VE" sz="1600" b="0" i="0" u="non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Admin</a:t>
            </a:r>
            <a:r>
              <a:rPr kumimoji="0" lang="es-VE" altLang="es-VE" sz="1600" b="0" i="0" u="non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Recepcionista, Entrenador). Soluciona el control de accesos y responsabilidades; beneficia al Administrador, que gana trazabilidad sobre quién hace qué en el sistema.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sz="1600" b="1" i="0" u="non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Módulo de afiliados:</a:t>
            </a:r>
            <a:r>
              <a:rPr kumimoji="0" lang="es-VE" altLang="es-VE" sz="1600" b="0" i="0" u="non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digitaliza el registro y la consulta de información de los miembros. Soluciona la pérdida y duplicación de datos en papel; beneficia a Recepción, que agiliza el proceso de inscripción, y al afiliado, que tiene su información centralizada. </a:t>
            </a:r>
            <a:endParaRPr kumimoji="0" lang="es-VE" altLang="es-VE" sz="1600" b="1" i="0" u="non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sz="1600" b="1" i="0" u="non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Módulo de rutinas: </a:t>
            </a:r>
            <a:r>
              <a:rPr kumimoji="0" lang="es-VE" altLang="es-VE" sz="1600" b="0" i="0" u="non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asigna planes de entrenamiento personalizados, filtrando automáticamente ejercicios prohibidos por restricciones médicas. Soluciona los planes genéricos e inseguros; beneficia al Entrenador, que ahorra tiempo en el diseño, y al afiliado, que entrena de forma segura y ajustada a su condición.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sz="1600" b="1" i="0" u="non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Módulo de nutrición: </a:t>
            </a:r>
            <a:r>
              <a:rPr kumimoji="0" lang="es-VE" altLang="es-VE" sz="1600" b="0" i="0" u="non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asigna dietas con metas calóricas y macronutrientes filtrados por restricción médica. Soluciona la falta de seguimiento nutricional estructurado; beneficia al afiliado en su proceso de mejora física.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sz="1600" b="1" i="0" u="non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Módulo de membresías y pagos: </a:t>
            </a:r>
            <a:r>
              <a:rPr kumimoji="0" lang="es-VE" altLang="es-VE" sz="1600" b="0" i="0" u="non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registra pagos, calcula vencimientos y genera reportes financieros. Soluciona la falta de control de ingresos; beneficia al Administrador para la toma de decisiones financieras y a Recepción para el cobro ágil.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VE" altLang="es-VE" sz="1600" b="1" i="0" u="non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Módulo de progreso físico: </a:t>
            </a:r>
            <a:r>
              <a:rPr kumimoji="0" lang="es-VE" altLang="es-VE" sz="1600" b="0" i="0" u="non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registra mediciones (peso, IMC, % grasa, medidas corporales</a:t>
            </a:r>
            <a:r>
              <a:rPr kumimoji="0" lang="es-VE" altLang="es-VE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y las muestra en la app móvil. Soluciona la ausencia de seguimiento visible; beneficia directamente al afiliado, que ve su evolución, y al entrenador, que ajusta el plan con datos reales. </a:t>
            </a:r>
          </a:p>
        </p:txBody>
      </p:sp>
    </p:spTree>
    <p:extLst>
      <p:ext uri="{BB962C8B-B14F-4D97-AF65-F5344CB8AC3E}">
        <p14:creationId xmlns:p14="http://schemas.microsoft.com/office/powerpoint/2010/main" val="140125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268" y="54336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Justificación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584570" y="1839803"/>
            <a:ext cx="106769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/>
              <a:t>El proyecto se concibe como un aplicativo web y móvil, no solo web, porque los dos perfiles de usuario tienen necesidades distintas de acceso: el personal administrativo (</a:t>
            </a:r>
            <a:r>
              <a:rPr lang="es-MX" sz="1600" dirty="0" err="1"/>
              <a:t>Admin</a:t>
            </a:r>
            <a:r>
              <a:rPr lang="es-MX" sz="1600" dirty="0"/>
              <a:t>, Recepcionista, Entrenador) trabaja desde el gimnasio en equipos de escritorio, por lo que una interfaz web es más cómoda para tareas de gestión, CRUD y consulta de reportes; los afiliados, en cambio, están entrenando dentro del gimnasio y no llevan un portátil, por lo que una app móvil les permite consultar su rutina, dieta y progreso directamente desde su celular en cualquier momento.</a:t>
            </a:r>
            <a:endParaRPr lang="es-MX" sz="1600" b="1" dirty="0">
              <a:latin typeface="Work Sans Light" pitchFamily="2" charset="77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="" xmlns:a16="http://schemas.microsoft.com/office/drawing/2014/main" id="{243B358C-450B-48A8-9038-BEF3E3045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="" xmlns:a16="http://schemas.microsoft.com/office/drawing/2014/main" id="{21D8FE14-DD97-4A01-BCB7-738350CDD6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758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Alcance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456236" y="1716159"/>
            <a:ext cx="89309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/>
              <a:t>El alcance de </a:t>
            </a:r>
            <a:r>
              <a:rPr lang="es-MX" sz="1600" dirty="0" err="1"/>
              <a:t>MetaFit</a:t>
            </a:r>
            <a:r>
              <a:rPr lang="es-MX" sz="1600" dirty="0"/>
              <a:t> se limita a Sport </a:t>
            </a:r>
            <a:r>
              <a:rPr lang="es-MX" sz="1600" dirty="0" err="1"/>
              <a:t>Gym</a:t>
            </a:r>
            <a:r>
              <a:rPr lang="es-MX" sz="1600" dirty="0"/>
              <a:t> Sede 80 (Bogotá) e incluye</a:t>
            </a:r>
            <a:r>
              <a:rPr lang="es-MX" sz="1600" dirty="0" smtClean="0"/>
              <a:t>:</a:t>
            </a:r>
          </a:p>
          <a:p>
            <a:endParaRPr lang="es-MX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Cuatro roles de usuario: Administrador, Recepcionista, Entrenador (vía web) y Afiliado (vía app móvil).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Gestión completa (CRUD) de afiliados, personal, catálogo de ejercicios y catálogo de alimentos.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Asignación de rutinas y planes nutricionales personalizados, filtrados automáticamente por restricciones médicas.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Gestión de membresías: registro de pagos, semáforo de estado, precio de membresía configurable.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/>
              <a:t>Dashboard</a:t>
            </a:r>
            <a:r>
              <a:rPr lang="es-MX" sz="1600" dirty="0"/>
              <a:t> con </a:t>
            </a:r>
            <a:r>
              <a:rPr lang="es-MX" sz="1600" dirty="0" err="1"/>
              <a:t>KPIs</a:t>
            </a:r>
            <a:r>
              <a:rPr lang="es-MX" sz="1600" dirty="0"/>
              <a:t> y panel financiero con exportación de reportes a PDF.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Sistema de notificaciones contextuales por 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Aplicación móvil con cuatro secciones para el afiliado: perfil, rutina, dieta y progreso físico.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Seguridad multicapa (JWT, </a:t>
            </a:r>
            <a:r>
              <a:rPr lang="es-MX" sz="1600" dirty="0" err="1"/>
              <a:t>bcrypt</a:t>
            </a:r>
            <a:r>
              <a:rPr lang="es-MX" sz="1600" dirty="0"/>
              <a:t>, control de acceso por rol) y despliegue mediante </a:t>
            </a:r>
            <a:r>
              <a:rPr lang="es-MX" sz="1600" dirty="0" err="1"/>
              <a:t>Docker</a:t>
            </a:r>
            <a:r>
              <a:rPr lang="es-MX" sz="1600" dirty="0" smtClean="0"/>
              <a:t>.</a:t>
            </a:r>
          </a:p>
          <a:p>
            <a:endParaRPr lang="es-MX" sz="1600" dirty="0"/>
          </a:p>
          <a:p>
            <a:r>
              <a:rPr lang="es-MX" sz="1600" dirty="0"/>
              <a:t>Queda fuera del alcance de esta fase (trabajo futuro): integración con pasarelas de pago en línea (</a:t>
            </a:r>
            <a:r>
              <a:rPr lang="es-MX" sz="1600" dirty="0" err="1"/>
              <a:t>Stripe</a:t>
            </a:r>
            <a:r>
              <a:rPr lang="es-MX" sz="1600" dirty="0"/>
              <a:t>/</a:t>
            </a:r>
            <a:r>
              <a:rPr lang="es-MX" sz="1600" dirty="0" err="1"/>
              <a:t>PayU</a:t>
            </a:r>
            <a:r>
              <a:rPr lang="es-MX" sz="1600" dirty="0"/>
              <a:t>), integración con dispositivos </a:t>
            </a:r>
            <a:r>
              <a:rPr lang="es-MX" sz="1600" dirty="0" err="1"/>
              <a:t>wearables</a:t>
            </a:r>
            <a:r>
              <a:rPr lang="es-MX" sz="1600" dirty="0"/>
              <a:t>, </a:t>
            </a:r>
            <a:r>
              <a:rPr lang="es-MX" sz="1600" dirty="0" smtClean="0"/>
              <a:t>soporte </a:t>
            </a:r>
            <a:r>
              <a:rPr lang="es-MX" sz="1600" dirty="0" err="1"/>
              <a:t>multi</a:t>
            </a:r>
            <a:r>
              <a:rPr lang="es-MX" sz="1600" dirty="0"/>
              <a:t>-sede o </a:t>
            </a:r>
            <a:r>
              <a:rPr lang="es-MX" sz="1600" dirty="0" err="1"/>
              <a:t>multi</a:t>
            </a:r>
            <a:r>
              <a:rPr lang="es-MX" sz="1600" dirty="0"/>
              <a:t>-gimnasio, modo offline, exportación de reportes a Excel y CI/CD automatizado.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="" xmlns:a16="http://schemas.microsoft.com/office/drawing/2014/main" id="{D5C6FDA3-4F48-4791-85DC-5E20A5A01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="" xmlns:a16="http://schemas.microsoft.com/office/drawing/2014/main" id="{777E2CF4-1FF2-4EFA-A46C-8CEE9A5882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34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09" y="110482"/>
            <a:ext cx="10515600" cy="1163338"/>
          </a:xfrm>
        </p:spPr>
        <p:txBody>
          <a:bodyPr/>
          <a:lstStyle/>
          <a:p>
            <a:r>
              <a:rPr lang="es-MX" dirty="0">
                <a:solidFill>
                  <a:schemeClr val="bg1"/>
                </a:solidFill>
                <a:latin typeface="Work Sans Medium" pitchFamily="2" charset="77"/>
              </a:rPr>
              <a:t>Selección Del Stack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569456" y="2170356"/>
            <a:ext cx="1026970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/>
              <a:t>La selección del </a:t>
            </a:r>
            <a:r>
              <a:rPr lang="es-MX" sz="1600" dirty="0" err="1"/>
              <a:t>stack</a:t>
            </a:r>
            <a:r>
              <a:rPr lang="es-MX" sz="1600" dirty="0"/>
              <a:t> se hizo priorizando coherencia entre los dos frentes del proyecto (web y móvil), facilidad de desarrollo y soporte de la comunidad</a:t>
            </a:r>
            <a:r>
              <a:rPr lang="es-MX" sz="16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dirty="0" err="1"/>
              <a:t>Frontend</a:t>
            </a:r>
            <a:r>
              <a:rPr lang="es-MX" sz="1600" dirty="0"/>
              <a:t> Web: </a:t>
            </a:r>
            <a:r>
              <a:rPr lang="es-MX" sz="1600" dirty="0" err="1"/>
              <a:t>React</a:t>
            </a:r>
            <a:r>
              <a:rPr lang="es-MX" sz="1600" dirty="0"/>
              <a:t> 19 + Vite, con </a:t>
            </a:r>
            <a:r>
              <a:rPr lang="es-MX" sz="1600" dirty="0" err="1"/>
              <a:t>Bootstrap</a:t>
            </a:r>
            <a:r>
              <a:rPr lang="es-MX" sz="1600" dirty="0"/>
              <a:t> 5 para estilos y Chart.js para visualización de datos en el </a:t>
            </a:r>
            <a:r>
              <a:rPr lang="es-MX" sz="1600" dirty="0" err="1"/>
              <a:t>dashboard</a:t>
            </a:r>
            <a:r>
              <a:rPr lang="es-MX" sz="1600" dirty="0"/>
              <a:t>. Desarrollado en Visual Studio </a:t>
            </a:r>
            <a:r>
              <a:rPr lang="es-MX" sz="1600" dirty="0" err="1"/>
              <a:t>Code</a:t>
            </a:r>
            <a:r>
              <a:rPr lang="es-MX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dirty="0" err="1"/>
              <a:t>Frontend</a:t>
            </a:r>
            <a:r>
              <a:rPr lang="es-MX" sz="1600" dirty="0"/>
              <a:t> Móvil: </a:t>
            </a:r>
            <a:r>
              <a:rPr lang="es-MX" sz="1600" dirty="0" err="1"/>
              <a:t>React</a:t>
            </a:r>
            <a:r>
              <a:rPr lang="es-MX" sz="1600" dirty="0"/>
              <a:t> </a:t>
            </a:r>
            <a:r>
              <a:rPr lang="es-MX" sz="1600" dirty="0" err="1"/>
              <a:t>Native</a:t>
            </a:r>
            <a:r>
              <a:rPr lang="es-MX" sz="1600" dirty="0"/>
              <a:t> con Expo (SDK 55), probado mediante Expo </a:t>
            </a:r>
            <a:r>
              <a:rPr lang="es-MX" sz="1600" dirty="0" err="1"/>
              <a:t>Go</a:t>
            </a:r>
            <a:r>
              <a:rPr lang="es-MX" sz="1600" dirty="0"/>
              <a:t> en dispositivo </a:t>
            </a:r>
            <a:r>
              <a:rPr lang="es-MX" sz="1600" dirty="0" smtClean="0"/>
              <a:t>físico y </a:t>
            </a:r>
            <a:r>
              <a:rPr lang="es-MX" sz="1600" dirty="0" err="1"/>
              <a:t>y</a:t>
            </a:r>
            <a:r>
              <a:rPr lang="es-MX" sz="1600" dirty="0"/>
              <a:t> </a:t>
            </a:r>
            <a:r>
              <a:rPr lang="es-MX" sz="1600" dirty="0" err="1"/>
              <a:t>build</a:t>
            </a:r>
            <a:r>
              <a:rPr lang="es-MX" sz="1600"/>
              <a:t> de APK con EAS.</a:t>
            </a:r>
            <a:r>
              <a:rPr lang="es-MX" sz="1600" smtClean="0"/>
              <a:t> </a:t>
            </a:r>
            <a:r>
              <a:rPr lang="es-MX" sz="1600" dirty="0"/>
              <a:t>También desarrollado en Visual Studio </a:t>
            </a:r>
            <a:r>
              <a:rPr lang="es-MX" sz="1600" dirty="0" err="1"/>
              <a:t>Code</a:t>
            </a:r>
            <a:r>
              <a:rPr lang="es-MX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dirty="0" err="1"/>
              <a:t>Backend</a:t>
            </a:r>
            <a:r>
              <a:rPr lang="es-MX" sz="1600" dirty="0"/>
              <a:t>: Node.js con Express, aplicando autenticación JWT y cifrado de contraseñas con </a:t>
            </a:r>
            <a:r>
              <a:rPr lang="es-MX" sz="1600" dirty="0" err="1"/>
              <a:t>bcrypt</a:t>
            </a:r>
            <a:r>
              <a:rPr lang="es-MX" sz="1600" dirty="0"/>
              <a:t>. Desarrollado en Visual Studio </a:t>
            </a:r>
            <a:r>
              <a:rPr lang="es-MX" sz="1600" dirty="0" err="1"/>
              <a:t>Code</a:t>
            </a:r>
            <a:r>
              <a:rPr lang="es-MX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dirty="0"/>
              <a:t>Base de Datos: </a:t>
            </a:r>
            <a:r>
              <a:rPr lang="es-MX" sz="1600" dirty="0" err="1"/>
              <a:t>MySQL</a:t>
            </a:r>
            <a:r>
              <a:rPr lang="es-MX" sz="1600" dirty="0"/>
              <a:t> 8.0, administrada mediante </a:t>
            </a:r>
            <a:r>
              <a:rPr lang="es-MX" sz="1600" dirty="0" err="1"/>
              <a:t>phpMyAdmin</a:t>
            </a:r>
            <a:r>
              <a:rPr lang="es-MX" sz="16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dirty="0"/>
              <a:t>Infraestructura: </a:t>
            </a:r>
            <a:r>
              <a:rPr lang="es-MX" sz="1600" dirty="0" err="1"/>
              <a:t>Docker</a:t>
            </a:r>
            <a:r>
              <a:rPr lang="es-MX" sz="1600" dirty="0"/>
              <a:t> </a:t>
            </a:r>
            <a:r>
              <a:rPr lang="es-MX" sz="1600" dirty="0" err="1"/>
              <a:t>Compose</a:t>
            </a:r>
            <a:r>
              <a:rPr lang="es-MX" sz="1600" dirty="0"/>
              <a:t> para orquestar los cuatro servicios del sistema (base de datos, </a:t>
            </a:r>
            <a:r>
              <a:rPr lang="es-MX" sz="1600" dirty="0" err="1"/>
              <a:t>backend</a:t>
            </a:r>
            <a:r>
              <a:rPr lang="es-MX" sz="1600" dirty="0"/>
              <a:t>, </a:t>
            </a:r>
            <a:r>
              <a:rPr lang="es-MX" sz="1600" dirty="0" err="1"/>
              <a:t>frontend</a:t>
            </a:r>
            <a:r>
              <a:rPr lang="es-MX" sz="1600" dirty="0"/>
              <a:t> y </a:t>
            </a:r>
            <a:r>
              <a:rPr lang="es-MX" sz="1600" dirty="0" err="1"/>
              <a:t>phpMyAdmin</a:t>
            </a:r>
            <a:r>
              <a:rPr lang="es-MX" sz="1600" dirty="0"/>
              <a:t>), facilitando el despliegue con un solo comando.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1600" dirty="0"/>
              <a:t>Documentación de API: </a:t>
            </a:r>
            <a:r>
              <a:rPr lang="es-MX" sz="1600" dirty="0" err="1"/>
              <a:t>Swagger</a:t>
            </a:r>
            <a:r>
              <a:rPr lang="es-MX" sz="1600" dirty="0"/>
              <a:t> (</a:t>
            </a:r>
            <a:r>
              <a:rPr lang="es-MX" sz="1600" dirty="0" err="1"/>
              <a:t>OpenAPI</a:t>
            </a:r>
            <a:r>
              <a:rPr lang="es-MX" sz="1600" dirty="0"/>
              <a:t>) y colecciones de </a:t>
            </a:r>
            <a:r>
              <a:rPr lang="es-MX" sz="1600" dirty="0" err="1"/>
              <a:t>Postman</a:t>
            </a:r>
            <a:r>
              <a:rPr lang="es-MX" sz="1600" dirty="0"/>
              <a:t> para pruebas y consulta de </a:t>
            </a:r>
            <a:r>
              <a:rPr lang="es-MX" sz="1600" dirty="0" err="1"/>
              <a:t>endpoints</a:t>
            </a:r>
            <a:r>
              <a:rPr lang="es-MX" sz="1600" dirty="0"/>
              <a:t>.</a:t>
            </a:r>
          </a:p>
          <a:p>
            <a:endParaRPr lang="es-MX" sz="1600" dirty="0">
              <a:latin typeface="Work Sans Light" pitchFamily="2" charset="77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="" xmlns:a16="http://schemas.microsoft.com/office/drawing/2014/main" id="{43D66FF9-E561-4B65-A2E2-1FB948D80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="" xmlns:a16="http://schemas.microsoft.com/office/drawing/2014/main" id="{F0F842F9-549A-4B5E-A4A9-D4EC405B9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963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09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Delimitación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="" xmlns:a16="http://schemas.microsoft.com/office/drawing/2014/main" id="{43D66FF9-E561-4B65-A2E2-1FB948D80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="" xmlns:a16="http://schemas.microsoft.com/office/drawing/2014/main" id="{F0F842F9-549A-4B5E-A4A9-D4EC405B9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="" xmlns:a16="http://schemas.microsoft.com/office/drawing/2014/main" id="{E783EFA9-ED69-4902-9E4A-86E351606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700" y="1515693"/>
            <a:ext cx="8789218" cy="534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26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Entregables Proyecto Formativo</a:t>
            </a:r>
            <a:b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</a:br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por Trimestre</a:t>
            </a:r>
            <a:endParaRPr lang="es-CO" sz="32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="" xmlns:a16="http://schemas.microsoft.com/office/drawing/2014/main" id="{61E176E7-6E48-7043-4A78-359C9D31D057}"/>
              </a:ext>
            </a:extLst>
          </p:cNvPr>
          <p:cNvSpPr txBox="1"/>
          <p:nvPr/>
        </p:nvSpPr>
        <p:spPr>
          <a:xfrm>
            <a:off x="1366063" y="1881018"/>
            <a:ext cx="38543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Plan de Proyecto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Levantamiento de Información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Diagrama de Procesos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IEEE-830 o Historias de Usuario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Diagrama Casos de Uso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Casos de Uso Extendido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Diagrama de Clases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Prototipo No Funcional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cs typeface="Calibri" panose="020F0502020204030204" pitchFamily="34" charset="0"/>
              </a:rPr>
              <a:t>Patrón de Diseño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="" xmlns:a16="http://schemas.microsoft.com/office/drawing/2014/main" id="{1CFE1397-E268-A3A6-3EA4-AB17D743D504}"/>
              </a:ext>
            </a:extLst>
          </p:cNvPr>
          <p:cNvGrpSpPr/>
          <p:nvPr/>
        </p:nvGrpSpPr>
        <p:grpSpPr>
          <a:xfrm>
            <a:off x="1111717" y="1494678"/>
            <a:ext cx="3239167" cy="347863"/>
            <a:chOff x="668953" y="1494678"/>
            <a:chExt cx="3239167" cy="347863"/>
          </a:xfrm>
        </p:grpSpPr>
        <p:sp>
          <p:nvSpPr>
            <p:cNvPr id="3" name="Rectángulo 2">
              <a:extLst>
                <a:ext uri="{FF2B5EF4-FFF2-40B4-BE49-F238E27FC236}">
                  <a16:creationId xmlns="" xmlns:a16="http://schemas.microsoft.com/office/drawing/2014/main" id="{5F88D1D8-4E77-172A-4075-4BC0AE7244E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Título 1">
              <a:extLst>
                <a:ext uri="{FF2B5EF4-FFF2-40B4-BE49-F238E27FC236}">
                  <a16:creationId xmlns="" xmlns:a16="http://schemas.microsoft.com/office/drawing/2014/main" id="{16C39CA5-CC93-B536-2382-65125837F350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Primer Trimestre</a:t>
              </a: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="" xmlns:a16="http://schemas.microsoft.com/office/drawing/2014/main" id="{DA55306B-6A90-067D-7E3E-9A883AF81519}"/>
              </a:ext>
            </a:extLst>
          </p:cNvPr>
          <p:cNvSpPr txBox="1"/>
          <p:nvPr/>
        </p:nvSpPr>
        <p:spPr>
          <a:xfrm>
            <a:off x="1366063" y="4602498"/>
            <a:ext cx="38543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Modelo Entidad Relación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Modelo Relacional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Diccionario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Script de la BBDD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Sentencias DDL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Consultas DML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Automatización de la BBDD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Sistema de Información Web – Servidor Local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="" xmlns:a16="http://schemas.microsoft.com/office/drawing/2014/main" id="{4BDEE201-EAE8-3EF0-7D52-A839443BF995}"/>
              </a:ext>
            </a:extLst>
          </p:cNvPr>
          <p:cNvGrpSpPr/>
          <p:nvPr/>
        </p:nvGrpSpPr>
        <p:grpSpPr>
          <a:xfrm>
            <a:off x="1060822" y="4230357"/>
            <a:ext cx="3239167" cy="347863"/>
            <a:chOff x="668953" y="1494678"/>
            <a:chExt cx="3239167" cy="347863"/>
          </a:xfrm>
        </p:grpSpPr>
        <p:sp>
          <p:nvSpPr>
            <p:cNvPr id="15" name="Rectángulo 14">
              <a:extLst>
                <a:ext uri="{FF2B5EF4-FFF2-40B4-BE49-F238E27FC236}">
                  <a16:creationId xmlns="" xmlns:a16="http://schemas.microsoft.com/office/drawing/2014/main" id="{60E7E3DC-F54F-16EE-6193-F3B84790E597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Título 1">
              <a:extLst>
                <a:ext uri="{FF2B5EF4-FFF2-40B4-BE49-F238E27FC236}">
                  <a16:creationId xmlns="" xmlns:a16="http://schemas.microsoft.com/office/drawing/2014/main" id="{E680F7F2-FBF8-50E2-5177-540E4EFE02C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Segundo Trimestre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="" xmlns:a16="http://schemas.microsoft.com/office/drawing/2014/main" id="{A3825B01-EA75-13DA-930E-0E7065456FC4}"/>
              </a:ext>
            </a:extLst>
          </p:cNvPr>
          <p:cNvGrpSpPr/>
          <p:nvPr/>
        </p:nvGrpSpPr>
        <p:grpSpPr>
          <a:xfrm>
            <a:off x="4902545" y="2675450"/>
            <a:ext cx="3239167" cy="347863"/>
            <a:chOff x="668953" y="1494678"/>
            <a:chExt cx="3239167" cy="347863"/>
          </a:xfrm>
        </p:grpSpPr>
        <p:sp>
          <p:nvSpPr>
            <p:cNvPr id="10" name="Rectángulo 9">
              <a:extLst>
                <a:ext uri="{FF2B5EF4-FFF2-40B4-BE49-F238E27FC236}">
                  <a16:creationId xmlns="" xmlns:a16="http://schemas.microsoft.com/office/drawing/2014/main" id="{1F95563B-F1FA-3F38-9469-C187B76F265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Título 1">
              <a:extLst>
                <a:ext uri="{FF2B5EF4-FFF2-40B4-BE49-F238E27FC236}">
                  <a16:creationId xmlns="" xmlns:a16="http://schemas.microsoft.com/office/drawing/2014/main" id="{5D4107EC-62A9-0CBC-9BAA-31894991FBDA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Tercer Trimestre</a:t>
              </a: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="" xmlns:a16="http://schemas.microsoft.com/office/drawing/2014/main" id="{9BECBF41-5245-C57F-50B5-C5EEB7FC3623}"/>
              </a:ext>
            </a:extLst>
          </p:cNvPr>
          <p:cNvSpPr txBox="1"/>
          <p:nvPr/>
        </p:nvSpPr>
        <p:spPr>
          <a:xfrm>
            <a:off x="5138058" y="3116381"/>
            <a:ext cx="3854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Planeación de Pruebas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Ejecución de Pruebas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="" xmlns:a16="http://schemas.microsoft.com/office/drawing/2014/main" id="{FCE1BD1E-1D51-E6AF-F105-4076FC2D57D5}"/>
              </a:ext>
            </a:extLst>
          </p:cNvPr>
          <p:cNvGrpSpPr/>
          <p:nvPr/>
        </p:nvGrpSpPr>
        <p:grpSpPr>
          <a:xfrm>
            <a:off x="4909555" y="4722219"/>
            <a:ext cx="3239167" cy="347863"/>
            <a:chOff x="668953" y="1494678"/>
            <a:chExt cx="3239167" cy="347863"/>
          </a:xfrm>
        </p:grpSpPr>
        <p:sp>
          <p:nvSpPr>
            <p:cNvPr id="19" name="Rectángulo 18">
              <a:extLst>
                <a:ext uri="{FF2B5EF4-FFF2-40B4-BE49-F238E27FC236}">
                  <a16:creationId xmlns="" xmlns:a16="http://schemas.microsoft.com/office/drawing/2014/main" id="{D3E0EBBB-9147-55CA-2418-498278054CFC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Título 1">
              <a:extLst>
                <a:ext uri="{FF2B5EF4-FFF2-40B4-BE49-F238E27FC236}">
                  <a16:creationId xmlns="" xmlns:a16="http://schemas.microsoft.com/office/drawing/2014/main" id="{D72BC5B6-99EB-82E2-EF05-9C929BA4026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Cuarto Trimestre</a:t>
              </a: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="" xmlns:a16="http://schemas.microsoft.com/office/drawing/2014/main" id="{FB827742-8BEF-4F91-027F-86DDB60084FD}"/>
              </a:ext>
            </a:extLst>
          </p:cNvPr>
          <p:cNvSpPr txBox="1"/>
          <p:nvPr/>
        </p:nvSpPr>
        <p:spPr>
          <a:xfrm>
            <a:off x="5138058" y="5219739"/>
            <a:ext cx="3854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Manual de Instalación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Configuración del Servidor de Aplicaciones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Configuración del Servidor de BBDD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="" xmlns:a16="http://schemas.microsoft.com/office/drawing/2014/main" id="{648580DD-9095-EA4C-4032-6CDC04F6E419}"/>
              </a:ext>
            </a:extLst>
          </p:cNvPr>
          <p:cNvGrpSpPr/>
          <p:nvPr/>
        </p:nvGrpSpPr>
        <p:grpSpPr>
          <a:xfrm>
            <a:off x="8350341" y="3568215"/>
            <a:ext cx="3239167" cy="347863"/>
            <a:chOff x="668953" y="1494678"/>
            <a:chExt cx="3239167" cy="347863"/>
          </a:xfrm>
        </p:grpSpPr>
        <p:sp>
          <p:nvSpPr>
            <p:cNvPr id="23" name="Rectángulo 22">
              <a:extLst>
                <a:ext uri="{FF2B5EF4-FFF2-40B4-BE49-F238E27FC236}">
                  <a16:creationId xmlns="" xmlns:a16="http://schemas.microsoft.com/office/drawing/2014/main" id="{13A95A63-0013-4AF3-D361-E97A2D8BAA5A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Título 1">
              <a:extLst>
                <a:ext uri="{FF2B5EF4-FFF2-40B4-BE49-F238E27FC236}">
                  <a16:creationId xmlns="" xmlns:a16="http://schemas.microsoft.com/office/drawing/2014/main" id="{AF8ED4B5-B0F0-DA61-CE59-7D3164807EBC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Quinto Trimestre</a:t>
              </a:r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="" xmlns:a16="http://schemas.microsoft.com/office/drawing/2014/main" id="{ECCF2336-24C1-7B7D-C6B6-ECB6A1DAFDEA}"/>
              </a:ext>
            </a:extLst>
          </p:cNvPr>
          <p:cNvSpPr txBox="1"/>
          <p:nvPr/>
        </p:nvSpPr>
        <p:spPr>
          <a:xfrm>
            <a:off x="8578844" y="4065735"/>
            <a:ext cx="27500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Manual de Usuario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600" dirty="0">
                <a:latin typeface="Calibri" panose="020F0502020204030204" pitchFamily="34" charset="0"/>
                <a:cs typeface="Calibri" panose="020F0502020204030204" pitchFamily="34" charset="0"/>
              </a:rPr>
              <a:t>Sistema de Información Web – Servidor Externo</a:t>
            </a:r>
          </a:p>
        </p:txBody>
      </p:sp>
      <p:pic>
        <p:nvPicPr>
          <p:cNvPr id="26" name="Picture 6">
            <a:extLst>
              <a:ext uri="{FF2B5EF4-FFF2-40B4-BE49-F238E27FC236}">
                <a16:creationId xmlns="" xmlns:a16="http://schemas.microsoft.com/office/drawing/2014/main" id="{9736F48F-238B-49E9-BD6C-AA9D5C711D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8">
            <a:extLst>
              <a:ext uri="{FF2B5EF4-FFF2-40B4-BE49-F238E27FC236}">
                <a16:creationId xmlns="" xmlns:a16="http://schemas.microsoft.com/office/drawing/2014/main" id="{072240F6-A406-441C-951A-46C7FD7FE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109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=""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3907</TotalTime>
  <Words>1460</Words>
  <Application>Microsoft Office PowerPoint</Application>
  <PresentationFormat>Panorámica</PresentationFormat>
  <Paragraphs>106</Paragraphs>
  <Slides>13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Work Sans</vt:lpstr>
      <vt:lpstr>Work Sans Light</vt:lpstr>
      <vt:lpstr>Work Sans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Problema</vt:lpstr>
      <vt:lpstr>Presentación de PowerPoint</vt:lpstr>
      <vt:lpstr>Justificación</vt:lpstr>
      <vt:lpstr>Justificación</vt:lpstr>
      <vt:lpstr>Presentación de PowerPoint</vt:lpstr>
      <vt:lpstr>Selección Del Stack</vt:lpstr>
      <vt:lpstr>Delimitación</vt:lpstr>
      <vt:lpstr>Entregables Proyecto Formativo por Trimestre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pc</cp:lastModifiedBy>
  <cp:revision>103</cp:revision>
  <dcterms:created xsi:type="dcterms:W3CDTF">2020-10-01T23:51:28Z</dcterms:created>
  <dcterms:modified xsi:type="dcterms:W3CDTF">2026-09-21T02:37:21Z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