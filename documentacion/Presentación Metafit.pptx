
<file path=[Content_Types].xml><?xml version="1.0" encoding="utf-8"?>
<Types xmlns="http://schemas.openxmlformats.org/package/2006/content-types">
  <Default Extension="png" ContentType="image/pn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468" r:id="rId2"/>
    <p:sldId id="503" r:id="rId3"/>
    <p:sldId id="499" r:id="rId4"/>
    <p:sldId id="504" r:id="rId5"/>
    <p:sldId id="502" r:id="rId6"/>
    <p:sldId id="508" r:id="rId7"/>
    <p:sldId id="509" r:id="rId8"/>
    <p:sldId id="518" r:id="rId9"/>
    <p:sldId id="512" r:id="rId10"/>
    <p:sldId id="515" r:id="rId11"/>
    <p:sldId id="513" r:id="rId12"/>
    <p:sldId id="505" r:id="rId13"/>
    <p:sldId id="264" r:id="rId14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8AA00"/>
    <a:srgbClr val="766363"/>
    <a:srgbClr val="FFF5EA"/>
    <a:srgbClr val="00324D"/>
    <a:srgbClr val="FF6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40" autoAdjust="0"/>
    <p:restoredTop sz="86369"/>
  </p:normalViewPr>
  <p:slideViewPr>
    <p:cSldViewPr snapToGrid="0">
      <p:cViewPr varScale="1">
        <p:scale>
          <a:sx n="70" d="100"/>
          <a:sy n="70" d="100"/>
        </p:scale>
        <p:origin x="180" y="6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97" d="100"/>
          <a:sy n="97" d="100"/>
        </p:scale>
        <p:origin x="5336" y="20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="" xmlns:a16="http://schemas.microsoft.com/office/drawing/2014/main" id="{9999AFE6-721E-1D92-FFC0-72E02DBB97B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="" xmlns:a16="http://schemas.microsoft.com/office/drawing/2014/main" id="{BA598C0A-ECF9-B897-80D5-1AE7ABA3058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369B9F-131C-2846-AB8F-CEE154B4CAEB}" type="datetimeFigureOut">
              <a:rPr lang="es-CO" smtClean="0"/>
              <a:t>30/06/2026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="" xmlns:a16="http://schemas.microsoft.com/office/drawing/2014/main" id="{788F308B-0102-A0B4-9A23-E807C735E85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="" xmlns:a16="http://schemas.microsoft.com/office/drawing/2014/main" id="{1E7CACDD-5D14-572A-2591-609B03F1682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93070F-3F68-E043-9CC3-B53B4F22454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7004591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60CB96-A603-FF42-AE46-F5F75F80A67B}" type="datetimeFigureOut">
              <a:rPr lang="es-CO" smtClean="0"/>
              <a:t>30/06/2026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06C58E-460D-4A4B-B0C2-1191B9D14FC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021302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06C58E-460D-4A4B-B0C2-1191B9D14FCB}" type="slidenum">
              <a:rPr lang="es-CO" smtClean="0"/>
              <a:t>1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1789272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06C58E-460D-4A4B-B0C2-1191B9D14FCB}" type="slidenum">
              <a:rPr lang="es-CO" smtClean="0"/>
              <a:t>12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582742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A095260C-E8AD-B240-9481-5B2FE14A60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="" xmlns:a16="http://schemas.microsoft.com/office/drawing/2014/main" id="{A8F4960B-AC04-294C-9B8A-B10830EF5F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="" xmlns:a16="http://schemas.microsoft.com/office/drawing/2014/main" id="{89F720DD-BA8F-C443-A59E-F0EEAF843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30/06/2026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="" xmlns:a16="http://schemas.microsoft.com/office/drawing/2014/main" id="{F9A1676A-B50F-4048-B9A0-67475225D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="" xmlns:a16="http://schemas.microsoft.com/office/drawing/2014/main" id="{90B408DD-191C-9940-B5DC-9B04378C8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3794502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E7817F6C-CDBB-234C-B00B-255C60E54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="" xmlns:a16="http://schemas.microsoft.com/office/drawing/2014/main" id="{29743F10-0075-0F47-A0C2-0071CB2B38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="" xmlns:a16="http://schemas.microsoft.com/office/drawing/2014/main" id="{3AB4C6E2-1F45-C54F-A384-6BA60BB5E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30/06/2026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="" xmlns:a16="http://schemas.microsoft.com/office/drawing/2014/main" id="{EF44B0E8-9C87-6C41-96F5-6419B5000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="" xmlns:a16="http://schemas.microsoft.com/office/drawing/2014/main" id="{2DD08979-815A-D443-B424-FB031F975D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6422036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CB4B3E04-413C-394A-94BD-6FD1D56E17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="" xmlns:a16="http://schemas.microsoft.com/office/drawing/2014/main" id="{D2E8DEAC-948A-0F4A-9098-1EA5A30BE3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="" xmlns:a16="http://schemas.microsoft.com/office/drawing/2014/main" id="{BF0E9B39-9659-7747-851C-17A0C73C8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30/06/2026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="" xmlns:a16="http://schemas.microsoft.com/office/drawing/2014/main" id="{5990AE33-28EE-274E-8E15-02A147483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="" xmlns:a16="http://schemas.microsoft.com/office/drawing/2014/main" id="{4EA1D99B-0619-1847-8509-03589920E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1303769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F0119BB-39AA-4B48-BB60-3EE344FF24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="" xmlns:a16="http://schemas.microsoft.com/office/drawing/2014/main" id="{58E8365F-8201-9D4B-85A4-E53E8819A8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="" xmlns:a16="http://schemas.microsoft.com/office/drawing/2014/main" id="{C674364B-4945-0A4D-A279-35519E3F46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="" xmlns:a16="http://schemas.microsoft.com/office/drawing/2014/main" id="{2868BFB1-0C38-A141-AB7B-22CD10FF3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30/06/2026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="" xmlns:a16="http://schemas.microsoft.com/office/drawing/2014/main" id="{9FF6516E-C104-3E4A-BC0F-DC137BD98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="" xmlns:a16="http://schemas.microsoft.com/office/drawing/2014/main" id="{F2C08597-16B2-3B42-B59A-8815DD747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425473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EB44272C-3F8B-AF4A-82BE-E5BE9107D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="" xmlns:a16="http://schemas.microsoft.com/office/drawing/2014/main" id="{44B8DA00-E62A-A54E-BC50-AEBAAF2516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="" xmlns:a16="http://schemas.microsoft.com/office/drawing/2014/main" id="{36E9F7D8-1A62-544F-A4E2-23A591854B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="" xmlns:a16="http://schemas.microsoft.com/office/drawing/2014/main" id="{21895FC1-5F27-B640-81B9-33366BECB5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="" xmlns:a16="http://schemas.microsoft.com/office/drawing/2014/main" id="{400D0329-F1AE-FE44-A7B4-B16B429A0C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="" xmlns:a16="http://schemas.microsoft.com/office/drawing/2014/main" id="{5A80CE19-B065-6E4F-A207-999BBF94C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30/06/2026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="" xmlns:a16="http://schemas.microsoft.com/office/drawing/2014/main" id="{299C46BF-4920-E443-B109-668969C5EB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="" xmlns:a16="http://schemas.microsoft.com/office/drawing/2014/main" id="{9C417FDA-D0D0-AD4C-9F49-6FFEC4BC6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69540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A4C92FB5-1F0C-DE4B-8A05-DE0792814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="" xmlns:a16="http://schemas.microsoft.com/office/drawing/2014/main" id="{5AF7F14C-AA7D-3049-A400-4AC6EED537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30/06/2026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="" xmlns:a16="http://schemas.microsoft.com/office/drawing/2014/main" id="{E746EF7E-3912-BF43-BEB6-49819D4EEF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="" xmlns:a16="http://schemas.microsoft.com/office/drawing/2014/main" id="{9BD767C9-209C-E54C-90E7-5176E4464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228511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="" xmlns:a16="http://schemas.microsoft.com/office/drawing/2014/main" id="{77E92712-14E7-954C-8C23-33CD3DBD7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30/06/2026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="" xmlns:a16="http://schemas.microsoft.com/office/drawing/2014/main" id="{FD7BCE5F-F417-1247-9F26-F4B7134685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="" xmlns:a16="http://schemas.microsoft.com/office/drawing/2014/main" id="{20B4FC7D-A6BA-0840-87AD-C71B1896B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41620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8CF2BE35-F0B5-DA4A-BE9E-AACFF26FF1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="" xmlns:a16="http://schemas.microsoft.com/office/drawing/2014/main" id="{8E62C38B-5384-914E-829A-352266F70B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="" xmlns:a16="http://schemas.microsoft.com/office/drawing/2014/main" id="{A79E434B-6E01-8148-AB00-051DDD4020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="" xmlns:a16="http://schemas.microsoft.com/office/drawing/2014/main" id="{6E3E8B8D-7A8A-794B-83A8-6920142BB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30/06/2026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="" xmlns:a16="http://schemas.microsoft.com/office/drawing/2014/main" id="{582F34C9-1A26-0B41-8AE3-21E599CC5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="" xmlns:a16="http://schemas.microsoft.com/office/drawing/2014/main" id="{782100B2-B969-0340-BEE2-F5FE05353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697146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6BADFDE3-8BDA-6F45-A442-3C2913AE5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="" xmlns:a16="http://schemas.microsoft.com/office/drawing/2014/main" id="{C08B3433-597C-7E43-A088-A50E443431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="" xmlns:a16="http://schemas.microsoft.com/office/drawing/2014/main" id="{A20DB791-C948-D149-A74A-0C0DFCA0B4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="" xmlns:a16="http://schemas.microsoft.com/office/drawing/2014/main" id="{1145138C-C370-6E42-902A-0DD2F4F61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30/06/2026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="" xmlns:a16="http://schemas.microsoft.com/office/drawing/2014/main" id="{9A61561C-CA9F-0943-8A3E-60233368C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="" xmlns:a16="http://schemas.microsoft.com/office/drawing/2014/main" id="{67B72CA4-FB9F-FB4B-8159-119C3846C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0695029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8C07BF5-7EFA-9943-8CEE-7006AC89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="" xmlns:a16="http://schemas.microsoft.com/office/drawing/2014/main" id="{BEFF53FB-B16B-7444-99CF-B7533C11E2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="" xmlns:a16="http://schemas.microsoft.com/office/drawing/2014/main" id="{0C9133D3-834D-0942-99DE-29F15E8DC4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30/06/2026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="" xmlns:a16="http://schemas.microsoft.com/office/drawing/2014/main" id="{5A5A02E1-CB07-7943-ACA2-6FF8387D32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="" xmlns:a16="http://schemas.microsoft.com/office/drawing/2014/main" id="{A12BC7A9-2B5F-1841-91C8-9460E3E55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11478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="" xmlns:a16="http://schemas.microsoft.com/office/drawing/2014/main" id="{7B25968F-984F-8BF4-4FF0-2432A9923EB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027833" y="317431"/>
            <a:ext cx="811391" cy="790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68285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="" xmlns:a16="http://schemas.microsoft.com/office/drawing/2014/main" id="{5C11DF48-6A7C-3349-8650-2AA87E5D5E6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="" xmlns:a16="http://schemas.microsoft.com/office/drawing/2014/main" id="{95D61C96-3D9F-F745-A812-5EC81CEB48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="" xmlns:a16="http://schemas.microsoft.com/office/drawing/2014/main" id="{B3F61D3C-242D-F544-9883-3EEF515CE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30/06/2026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="" xmlns:a16="http://schemas.microsoft.com/office/drawing/2014/main" id="{CCAB2518-6961-A143-A5EE-C5606EBA48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="" xmlns:a16="http://schemas.microsoft.com/office/drawing/2014/main" id="{586FEAD3-1533-7A45-8011-C0C84A1DC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38162162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 descr="Patrón de fondo&#10;&#10;Descripción generada automáticamente">
            <a:extLst>
              <a:ext uri="{FF2B5EF4-FFF2-40B4-BE49-F238E27FC236}">
                <a16:creationId xmlns="" xmlns:a16="http://schemas.microsoft.com/office/drawing/2014/main" id="{EDE1298D-A4F7-F1E4-F1B3-3D2F5117E04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="" xmlns:a16="http://schemas.microsoft.com/office/drawing/2014/main" id="{69B39820-C822-5D71-439D-76D8E95C16E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054859" y="303050"/>
            <a:ext cx="855785" cy="833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03603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0CE09D5-8681-04F4-0AD1-7206C3FF5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="" xmlns:a16="http://schemas.microsoft.com/office/drawing/2014/main" id="{8EB62C8D-42BE-8DF8-DDA7-6DDCB238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30/06/2026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="" xmlns:a16="http://schemas.microsoft.com/office/drawing/2014/main" id="{19F9D5C3-AD35-C818-D069-AB2D8EBBE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="" xmlns:a16="http://schemas.microsoft.com/office/drawing/2014/main" id="{E106A169-E84D-2DE1-E7CC-7058F9C00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1456598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Interfaz de usuario gráfica, Texto, Aplicación&#10;&#10;Descripción generada automáticamente">
            <a:extLst>
              <a:ext uri="{FF2B5EF4-FFF2-40B4-BE49-F238E27FC236}">
                <a16:creationId xmlns="" xmlns:a16="http://schemas.microsoft.com/office/drawing/2014/main" id="{7DFF890D-F3AC-9928-32A3-F179DB21A0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49469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="" xmlns:a16="http://schemas.microsoft.com/office/drawing/2014/main" id="{C6EFFBE1-33C9-1D48-A916-7535B68EC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="" xmlns:a16="http://schemas.microsoft.com/office/drawing/2014/main" id="{F778E02A-26CF-6C46-A280-67C4AA0551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="" xmlns:a16="http://schemas.microsoft.com/office/drawing/2014/main" id="{6CE7CDF9-2DDE-C04D-A9B9-78F138A1C3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986248-06F7-A441-A47A-264EBD310E11}" type="datetimeFigureOut">
              <a:rPr lang="es-CO" smtClean="0"/>
              <a:t>30/06/2026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="" xmlns:a16="http://schemas.microsoft.com/office/drawing/2014/main" id="{767570B4-267C-034E-B58B-04C03C9E55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="" xmlns:a16="http://schemas.microsoft.com/office/drawing/2014/main" id="{5041693D-7DB1-1144-97E3-85753EC9A0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626094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62" r:id="rId11"/>
    <p:sldLayoutId id="2147483659" r:id="rId12"/>
    <p:sldLayoutId id="2147483663" r:id="rId13"/>
    <p:sldLayoutId id="2147483675" r:id="rId14"/>
    <p:sldLayoutId id="2147483673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/>
          <p:cNvSpPr txBox="1"/>
          <p:nvPr/>
        </p:nvSpPr>
        <p:spPr>
          <a:xfrm>
            <a:off x="178298" y="2551836"/>
            <a:ext cx="645367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5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Work Sans" pitchFamily="2" charset="77"/>
              </a:rPr>
              <a:t>META</a:t>
            </a:r>
          </a:p>
          <a:p>
            <a:pPr algn="ctr"/>
            <a:r>
              <a:rPr lang="es-ES" sz="5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Work Sans" pitchFamily="2" charset="77"/>
              </a:rPr>
              <a:t>FIT</a:t>
            </a:r>
            <a:endParaRPr lang="es-ES" sz="4000" b="1" dirty="0">
              <a:solidFill>
                <a:schemeClr val="tx1">
                  <a:lumMod val="75000"/>
                  <a:lumOff val="25000"/>
                </a:schemeClr>
              </a:solidFill>
              <a:latin typeface="Work Sans" pitchFamily="2" charset="77"/>
            </a:endParaRPr>
          </a:p>
        </p:txBody>
      </p:sp>
      <p:pic>
        <p:nvPicPr>
          <p:cNvPr id="1030" name="Picture 6">
            <a:extLst>
              <a:ext uri="{FF2B5EF4-FFF2-40B4-BE49-F238E27FC236}">
                <a16:creationId xmlns="" xmlns:a16="http://schemas.microsoft.com/office/drawing/2014/main" id="{C11B7B0A-E5A8-45F7-A86C-7679689F92F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679" b="15294"/>
          <a:stretch/>
        </p:blipFill>
        <p:spPr bwMode="auto">
          <a:xfrm>
            <a:off x="8463315" y="2431915"/>
            <a:ext cx="3178362" cy="26167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="" xmlns:a16="http://schemas.microsoft.com/office/drawing/2014/main" id="{8F6AC25D-232B-444A-B533-1CF1C67A47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0340" y="2692135"/>
            <a:ext cx="2844629" cy="2356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796166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="" xmlns:a16="http://schemas.microsoft.com/office/drawing/2014/main" id="{B78A6207-2D79-A9F8-E09D-30C60C0067DF}"/>
              </a:ext>
            </a:extLst>
          </p:cNvPr>
          <p:cNvSpPr txBox="1"/>
          <p:nvPr/>
        </p:nvSpPr>
        <p:spPr>
          <a:xfrm>
            <a:off x="4786989" y="675443"/>
            <a:ext cx="2618024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sz="7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Work Sans Light" pitchFamily="2" charset="77"/>
              </a:rPr>
              <a:t>META</a:t>
            </a:r>
          </a:p>
          <a:p>
            <a:pPr algn="ctr"/>
            <a:r>
              <a:rPr lang="es-MX" sz="7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Work Sans Light" pitchFamily="2" charset="77"/>
              </a:rPr>
              <a:t>FIT</a:t>
            </a:r>
            <a:endParaRPr lang="es-CO" sz="72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Work Sans Light" pitchFamily="2" charset="77"/>
            </a:endParaRPr>
          </a:p>
        </p:txBody>
      </p:sp>
      <p:cxnSp>
        <p:nvCxnSpPr>
          <p:cNvPr id="7" name="Conector recto 6">
            <a:extLst>
              <a:ext uri="{FF2B5EF4-FFF2-40B4-BE49-F238E27FC236}">
                <a16:creationId xmlns="" xmlns:a16="http://schemas.microsoft.com/office/drawing/2014/main" id="{7093B0CC-07FB-12E7-E7C8-581324B7AF33}"/>
              </a:ext>
            </a:extLst>
          </p:cNvPr>
          <p:cNvCxnSpPr>
            <a:cxnSpLocks/>
          </p:cNvCxnSpPr>
          <p:nvPr/>
        </p:nvCxnSpPr>
        <p:spPr>
          <a:xfrm>
            <a:off x="5227899" y="3321934"/>
            <a:ext cx="1736203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uadroTexto 7">
            <a:extLst>
              <a:ext uri="{FF2B5EF4-FFF2-40B4-BE49-F238E27FC236}">
                <a16:creationId xmlns="" xmlns:a16="http://schemas.microsoft.com/office/drawing/2014/main" id="{9FA07BD2-A8DB-FF10-1E30-572887632351}"/>
              </a:ext>
            </a:extLst>
          </p:cNvPr>
          <p:cNvSpPr txBox="1"/>
          <p:nvPr/>
        </p:nvSpPr>
        <p:spPr>
          <a:xfrm>
            <a:off x="4168816" y="3463724"/>
            <a:ext cx="385436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Times New Roman" panose="02020603050405020304" pitchFamily="18" charset="0"/>
              </a:rPr>
              <a:t>Sofia</a:t>
            </a:r>
            <a:r>
              <a:rPr lang="es-MX" sz="1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Times New Roman" panose="02020603050405020304" pitchFamily="18" charset="0"/>
              </a:rPr>
              <a:t> </a:t>
            </a:r>
            <a:r>
              <a:rPr lang="es-MX" sz="1600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Times New Roman" panose="02020603050405020304" pitchFamily="18" charset="0"/>
              </a:rPr>
              <a:t>Beatriz Astudillo </a:t>
            </a:r>
            <a:r>
              <a:rPr lang="es-MX" sz="1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Times New Roman" panose="02020603050405020304" pitchFamily="18" charset="0"/>
              </a:rPr>
              <a:t>Idrogo</a:t>
            </a:r>
          </a:p>
          <a:p>
            <a:pPr algn="ctr"/>
            <a:r>
              <a:rPr lang="es-MX" sz="1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Times New Roman" panose="02020603050405020304" pitchFamily="18" charset="0"/>
              </a:rPr>
              <a:t>Juan </a:t>
            </a:r>
            <a:r>
              <a:rPr lang="es-MX" sz="16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Times New Roman" panose="02020603050405020304" pitchFamily="18" charset="0"/>
              </a:rPr>
              <a:t>Sebastian</a:t>
            </a:r>
            <a:r>
              <a:rPr lang="es-MX" sz="1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Times New Roman" panose="02020603050405020304" pitchFamily="18" charset="0"/>
              </a:rPr>
              <a:t> </a:t>
            </a:r>
            <a:r>
              <a:rPr lang="es-MX" sz="1600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Times New Roman" panose="02020603050405020304" pitchFamily="18" charset="0"/>
              </a:rPr>
              <a:t>Carvajal Corredor</a:t>
            </a:r>
            <a:endParaRPr lang="es-MX" sz="16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Times New Roman" panose="02020603050405020304" pitchFamily="18" charset="0"/>
            </a:endParaRPr>
          </a:p>
          <a:p>
            <a:pPr algn="ctr"/>
            <a:r>
              <a:rPr lang="es-MX" sz="1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Times New Roman" panose="02020603050405020304" pitchFamily="18" charset="0"/>
              </a:rPr>
              <a:t>Carlos Andrés Rodríguez Tique</a:t>
            </a:r>
          </a:p>
          <a:p>
            <a:pPr algn="ctr"/>
            <a:r>
              <a:rPr lang="es-MX" sz="1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Times New Roman" panose="02020603050405020304" pitchFamily="18" charset="0"/>
              </a:rPr>
              <a:t>Kevin Sebastian García Robayo</a:t>
            </a:r>
          </a:p>
          <a:p>
            <a:pPr algn="ctr"/>
            <a:r>
              <a:rPr lang="es-MX" sz="1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Times New Roman" panose="02020603050405020304" pitchFamily="18" charset="0"/>
              </a:rPr>
              <a:t>Isabella Caldas </a:t>
            </a:r>
            <a:r>
              <a:rPr lang="es-MX" sz="16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Times New Roman" panose="02020603050405020304" pitchFamily="18" charset="0"/>
              </a:rPr>
              <a:t>Perez</a:t>
            </a:r>
            <a:endParaRPr lang="es-CO" sz="16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Times New Roman" panose="02020603050405020304" pitchFamily="18" charset="0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="" xmlns:a16="http://schemas.microsoft.com/office/drawing/2014/main" id="{2F385990-7F30-A8ED-0FEA-F8EAC01BD49D}"/>
              </a:ext>
            </a:extLst>
          </p:cNvPr>
          <p:cNvSpPr txBox="1"/>
          <p:nvPr/>
        </p:nvSpPr>
        <p:spPr>
          <a:xfrm>
            <a:off x="1068888" y="5279998"/>
            <a:ext cx="1005422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Work Sans Light" pitchFamily="2" charset="77"/>
              </a:rPr>
              <a:t>Servicio Nacional de Aprendizaje –SENA, Centro de Electricidad Electrónica y Telecomunicaciones</a:t>
            </a:r>
          </a:p>
          <a:p>
            <a:pPr algn="ctr"/>
            <a:r>
              <a:rPr lang="es-ES" sz="1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Work Sans Light" pitchFamily="2" charset="77"/>
              </a:rPr>
              <a:t>Técnico en Programación de Software - TPS, Tercer Trimestre</a:t>
            </a:r>
          </a:p>
          <a:p>
            <a:pPr algn="ctr"/>
            <a:r>
              <a:rPr lang="es-ES" sz="1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Work Sans Light" pitchFamily="2" charset="77"/>
              </a:rPr>
              <a:t>Instructor Albeiro Ramos</a:t>
            </a:r>
          </a:p>
          <a:p>
            <a:pPr algn="ctr"/>
            <a:r>
              <a:rPr lang="es-ES" sz="1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Work Sans Light" pitchFamily="2" charset="77"/>
              </a:rPr>
              <a:t>Bogotá, 4 de Febrero de 2025</a:t>
            </a:r>
            <a:endParaRPr lang="es-CO" sz="16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Work Sans Light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6207879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="" xmlns:a16="http://schemas.microsoft.com/office/drawing/2014/main" id="{B65FDE73-C641-1100-C209-6B5902DCC3EC}"/>
              </a:ext>
            </a:extLst>
          </p:cNvPr>
          <p:cNvSpPr/>
          <p:nvPr/>
        </p:nvSpPr>
        <p:spPr>
          <a:xfrm>
            <a:off x="4313578" y="1119174"/>
            <a:ext cx="2939970" cy="34724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EE37A3CD-1BAC-6175-4755-9AC66A46B6FF}"/>
              </a:ext>
            </a:extLst>
          </p:cNvPr>
          <p:cNvSpPr txBox="1">
            <a:spLocks/>
          </p:cNvSpPr>
          <p:nvPr/>
        </p:nvSpPr>
        <p:spPr>
          <a:xfrm>
            <a:off x="4338630" y="827396"/>
            <a:ext cx="3514740" cy="6765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3600" dirty="0">
                <a:solidFill>
                  <a:srgbClr val="38AA00"/>
                </a:solidFill>
                <a:latin typeface="Work Sans Light" pitchFamily="2" charset="77"/>
              </a:rPr>
              <a:t>Introducción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="" xmlns:a16="http://schemas.microsoft.com/office/drawing/2014/main" id="{FBAA83CA-F5E1-3945-40AB-1CB1B233A0BF}"/>
              </a:ext>
            </a:extLst>
          </p:cNvPr>
          <p:cNvSpPr txBox="1"/>
          <p:nvPr/>
        </p:nvSpPr>
        <p:spPr>
          <a:xfrm>
            <a:off x="2845849" y="1795772"/>
            <a:ext cx="6140121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MX" sz="1600" dirty="0" err="1">
                <a:cs typeface="Times New Roman" panose="02020603050405020304" pitchFamily="18" charset="0"/>
              </a:rPr>
              <a:t>MetaFit</a:t>
            </a:r>
            <a:r>
              <a:rPr lang="es-MX" sz="1600" dirty="0">
                <a:cs typeface="Times New Roman" panose="02020603050405020304" pitchFamily="18" charset="0"/>
              </a:rPr>
              <a:t> es un aplicativo web y móvil desarrollado para Sport </a:t>
            </a:r>
            <a:r>
              <a:rPr lang="es-MX" sz="1600" dirty="0" err="1">
                <a:cs typeface="Times New Roman" panose="02020603050405020304" pitchFamily="18" charset="0"/>
              </a:rPr>
              <a:t>Gym</a:t>
            </a:r>
            <a:r>
              <a:rPr lang="es-MX" sz="1600" dirty="0">
                <a:cs typeface="Times New Roman" panose="02020603050405020304" pitchFamily="18" charset="0"/>
              </a:rPr>
              <a:t> Sede 80 (Bogotá), que nace para resolver los problemas de gestión manual del gimnasio: registro de afiliados en papel, ausencia de métricas administrativas y financieras, planes de entrenamiento y nutrición genéricos que no consideraban restricciones médicas, control de pagos sin trazabilidad, y falta de un canal digital para que los afiliados consultaran su progreso. </a:t>
            </a:r>
            <a:endParaRPr lang="es-MX" sz="1600" dirty="0" smtClean="0">
              <a:cs typeface="Times New Roman" panose="02020603050405020304" pitchFamily="18" charset="0"/>
            </a:endParaRPr>
          </a:p>
          <a:p>
            <a:pPr algn="just"/>
            <a:endParaRPr lang="es-MX" sz="1600" dirty="0">
              <a:cs typeface="Times New Roman" panose="02020603050405020304" pitchFamily="18" charset="0"/>
            </a:endParaRPr>
          </a:p>
          <a:p>
            <a:pPr algn="just"/>
            <a:r>
              <a:rPr lang="es-MX" sz="1600" dirty="0" smtClean="0">
                <a:cs typeface="Times New Roman" panose="02020603050405020304" pitchFamily="18" charset="0"/>
              </a:rPr>
              <a:t>La </a:t>
            </a:r>
            <a:r>
              <a:rPr lang="es-MX" sz="1600" dirty="0">
                <a:cs typeface="Times New Roman" panose="02020603050405020304" pitchFamily="18" charset="0"/>
              </a:rPr>
              <a:t>solución se compone de dos frentes complementarios: una aplicación web orientada a la gestión administrativa (usada por Administradores, Recepcionistas y Entrenadores desde el gimnasio) y una aplicación móvil orientada a los afiliados, pensada para que consulten su rutina, dieta y progreso desde su celular sin depender de un computador. Su alcance inicial corresponde a Sport </a:t>
            </a:r>
            <a:r>
              <a:rPr lang="es-MX" sz="1600" dirty="0" err="1">
                <a:cs typeface="Times New Roman" panose="02020603050405020304" pitchFamily="18" charset="0"/>
              </a:rPr>
              <a:t>Gym</a:t>
            </a:r>
            <a:r>
              <a:rPr lang="es-MX" sz="1600" dirty="0">
                <a:cs typeface="Times New Roman" panose="02020603050405020304" pitchFamily="18" charset="0"/>
              </a:rPr>
              <a:t> Sede 80 e incluye los módulos de afiliados, personal, rutinas, nutrición, pagos/membresía, progreso físico y notificaciones.</a:t>
            </a:r>
            <a:endParaRPr lang="es-CO" sz="1600" dirty="0"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53874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="" xmlns:a16="http://schemas.microsoft.com/office/drawing/2014/main" id="{62CAF686-2B1F-2A4A-A0F2-CAE3CF59E65B}"/>
              </a:ext>
            </a:extLst>
          </p:cNvPr>
          <p:cNvSpPr txBox="1">
            <a:spLocks/>
          </p:cNvSpPr>
          <p:nvPr/>
        </p:nvSpPr>
        <p:spPr>
          <a:xfrm>
            <a:off x="456236" y="416689"/>
            <a:ext cx="10515600" cy="741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dirty="0">
                <a:solidFill>
                  <a:schemeClr val="bg1"/>
                </a:solidFill>
                <a:latin typeface="Work Sans Medium" pitchFamily="2" charset="77"/>
              </a:rPr>
              <a:t>M</a:t>
            </a:r>
            <a:r>
              <a:rPr lang="es-CO" dirty="0">
                <a:solidFill>
                  <a:schemeClr val="bg1"/>
                </a:solidFill>
                <a:latin typeface="Work Sans Medium" pitchFamily="2" charset="77"/>
              </a:rPr>
              <a:t>ETA FIT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="" xmlns:a16="http://schemas.microsoft.com/office/drawing/2014/main" id="{7779D7A8-BEDD-C9DB-4CEE-7225220AFBCD}"/>
              </a:ext>
            </a:extLst>
          </p:cNvPr>
          <p:cNvSpPr txBox="1"/>
          <p:nvPr/>
        </p:nvSpPr>
        <p:spPr>
          <a:xfrm>
            <a:off x="7055878" y="1158252"/>
            <a:ext cx="5020178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800" b="1" dirty="0">
                <a:latin typeface="Work Sans Light" pitchFamily="2" charset="77"/>
              </a:rPr>
              <a:t>Problema</a:t>
            </a:r>
          </a:p>
          <a:p>
            <a:r>
              <a:rPr lang="es-CO" sz="2800" b="1" dirty="0">
                <a:latin typeface="Work Sans Light" pitchFamily="2" charset="77"/>
              </a:rPr>
              <a:t>Objetivos</a:t>
            </a:r>
          </a:p>
          <a:p>
            <a:r>
              <a:rPr lang="es-CO" sz="2800" b="1" dirty="0">
                <a:latin typeface="Work Sans Light" pitchFamily="2" charset="77"/>
              </a:rPr>
              <a:t>Justificación</a:t>
            </a:r>
          </a:p>
          <a:p>
            <a:r>
              <a:rPr lang="es-CO" sz="2800" b="1" dirty="0">
                <a:latin typeface="Work Sans Light" pitchFamily="2" charset="77"/>
              </a:rPr>
              <a:t>Alcance</a:t>
            </a:r>
          </a:p>
          <a:p>
            <a:r>
              <a:rPr lang="es-CO" sz="2800" b="1" dirty="0">
                <a:latin typeface="Work Sans Light" pitchFamily="2" charset="77"/>
              </a:rPr>
              <a:t>Selección del Stack</a:t>
            </a:r>
          </a:p>
          <a:p>
            <a:r>
              <a:rPr lang="es-CO" sz="2800" b="1" dirty="0" smtClean="0">
                <a:latin typeface="Work Sans Light" pitchFamily="2" charset="77"/>
              </a:rPr>
              <a:t>Delimitación</a:t>
            </a:r>
            <a:endParaRPr lang="es-CO" sz="2800" b="1" dirty="0">
              <a:latin typeface="Work Sans Light" pitchFamily="2" charset="77"/>
            </a:endParaRPr>
          </a:p>
          <a:p>
            <a:r>
              <a:rPr lang="es-CO" sz="2800" b="1" dirty="0">
                <a:latin typeface="Work Sans Light" pitchFamily="2" charset="77"/>
              </a:rPr>
              <a:t>Entregables Trimestre</a:t>
            </a:r>
          </a:p>
        </p:txBody>
      </p:sp>
      <p:pic>
        <p:nvPicPr>
          <p:cNvPr id="6" name="Picture 8">
            <a:extLst>
              <a:ext uri="{FF2B5EF4-FFF2-40B4-BE49-F238E27FC236}">
                <a16:creationId xmlns="" xmlns:a16="http://schemas.microsoft.com/office/drawing/2014/main" id="{420EB6CD-517F-4328-A1EF-5051D5BF20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137" y="1698312"/>
            <a:ext cx="2908674" cy="24095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="" xmlns:a16="http://schemas.microsoft.com/office/drawing/2014/main" id="{2C4FCF54-8C7A-44C1-A941-A912A90AE06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679" b="15294"/>
          <a:stretch/>
        </p:blipFill>
        <p:spPr bwMode="auto">
          <a:xfrm>
            <a:off x="3648811" y="1694013"/>
            <a:ext cx="3124968" cy="25727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20489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CAC1D880-FC17-3789-2435-5FF7492EA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6236" y="110481"/>
            <a:ext cx="10515600" cy="1325563"/>
          </a:xfrm>
        </p:spPr>
        <p:txBody>
          <a:bodyPr/>
          <a:lstStyle/>
          <a:p>
            <a:r>
              <a:rPr lang="es-CO" dirty="0">
                <a:solidFill>
                  <a:schemeClr val="bg1"/>
                </a:solidFill>
                <a:latin typeface="Work Sans Medium" pitchFamily="2" charset="77"/>
              </a:rPr>
              <a:t>Problema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="" xmlns:a16="http://schemas.microsoft.com/office/drawing/2014/main" id="{0CA39C3C-B25E-C804-C832-61458138A925}"/>
              </a:ext>
            </a:extLst>
          </p:cNvPr>
          <p:cNvSpPr txBox="1"/>
          <p:nvPr/>
        </p:nvSpPr>
        <p:spPr>
          <a:xfrm>
            <a:off x="873316" y="2189744"/>
            <a:ext cx="9248301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MX" sz="1600" dirty="0"/>
              <a:t>Antes de </a:t>
            </a:r>
            <a:r>
              <a:rPr lang="es-MX" sz="1600" dirty="0" err="1"/>
              <a:t>MetaFit</a:t>
            </a:r>
            <a:r>
              <a:rPr lang="es-MX" sz="1600" dirty="0"/>
              <a:t>, Sport </a:t>
            </a:r>
            <a:r>
              <a:rPr lang="es-MX" sz="1600" dirty="0" err="1"/>
              <a:t>Gym</a:t>
            </a:r>
            <a:r>
              <a:rPr lang="es-MX" sz="1600" dirty="0"/>
              <a:t> Sede 80 gestionaba su operación de forma manual y fragmentada: los afiliados se registraban en formularios de papel archivados en carpetas físicas, lo que generaba pérdida de documentos, duplicación de registros y dificultad para buscar información. La dirección no contaba con métricas para responder preguntas básicas sobre afiliados activos, ingresos mensuales o membresías próximas a vencer. Los entrenadores diseñaban rutinas y dietas en hojas de cálculo sin considerar de forma sistemática las restricciones médicas, el nivel de experiencia o la disponibilidad de cada afiliado. Los afiliados no tenían ningún canal digital para consultar su plan o su progreso. Y los pagos se registraban en cuadernos, lo que dificultaba el control y la auditoría de ingresos</a:t>
            </a:r>
            <a:r>
              <a:rPr lang="es-MX" sz="1600" dirty="0" smtClean="0"/>
              <a:t>.</a:t>
            </a:r>
          </a:p>
          <a:p>
            <a:pPr algn="just"/>
            <a:endParaRPr lang="es-MX" sz="1600" b="1" i="0" dirty="0">
              <a:effectLst/>
            </a:endParaRPr>
          </a:p>
          <a:p>
            <a:pPr algn="just"/>
            <a:endParaRPr lang="es-MX" sz="1600" b="1" i="0" dirty="0" smtClean="0">
              <a:effectLst/>
            </a:endParaRPr>
          </a:p>
          <a:p>
            <a:pPr algn="just"/>
            <a:r>
              <a:rPr lang="es-MX" sz="1600" b="1" i="0" dirty="0" smtClean="0">
                <a:effectLst/>
              </a:rPr>
              <a:t>Pregunta </a:t>
            </a:r>
            <a:r>
              <a:rPr lang="es-MX" sz="1600" b="1" i="0" dirty="0">
                <a:effectLst/>
              </a:rPr>
              <a:t>problema:</a:t>
            </a:r>
            <a:endParaRPr lang="es-MX" sz="1600" dirty="0">
              <a:effectLst/>
            </a:endParaRPr>
          </a:p>
          <a:p>
            <a:pPr algn="just"/>
            <a:r>
              <a:rPr lang="es-MX" sz="1600" dirty="0"/>
              <a:t>¿Cómo optimizar la gestión administrativa, la asignación de planes de entrenamiento y nutrición, y el control de pagos de los afiliados del gimnasio Sport </a:t>
            </a:r>
            <a:r>
              <a:rPr lang="es-MX" sz="1600" dirty="0" err="1"/>
              <a:t>Gym</a:t>
            </a:r>
            <a:r>
              <a:rPr lang="es-MX" sz="1600" dirty="0"/>
              <a:t> Sede 80, mediante una solución tecnológica que centralice la </a:t>
            </a:r>
            <a:r>
              <a:rPr lang="es-MX" sz="1600" dirty="0" smtClean="0"/>
              <a:t>información y </a:t>
            </a:r>
            <a:r>
              <a:rPr lang="es-MX" sz="1600" dirty="0"/>
              <a:t>respete las restricciones médicas de cada </a:t>
            </a:r>
            <a:r>
              <a:rPr lang="es-MX" sz="1600" dirty="0" smtClean="0"/>
              <a:t>usuario?</a:t>
            </a:r>
            <a:endParaRPr lang="es-MX" sz="1600" dirty="0">
              <a:effectLst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="" xmlns:a16="http://schemas.microsoft.com/office/drawing/2014/main" id="{AF42ABE9-9E87-48C8-A063-00868637FDB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679" b="15294"/>
          <a:stretch/>
        </p:blipFill>
        <p:spPr bwMode="auto">
          <a:xfrm>
            <a:off x="9696909" y="216561"/>
            <a:ext cx="1352366" cy="11134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8">
            <a:extLst>
              <a:ext uri="{FF2B5EF4-FFF2-40B4-BE49-F238E27FC236}">
                <a16:creationId xmlns="" xmlns:a16="http://schemas.microsoft.com/office/drawing/2014/main" id="{44963E08-CBD3-4E94-862A-C099FBC8F3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7359" y="104277"/>
            <a:ext cx="1479562" cy="1225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48887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="" xmlns:a16="http://schemas.microsoft.com/office/drawing/2014/main" id="{B65FDE73-C641-1100-C209-6B5902DCC3EC}"/>
              </a:ext>
            </a:extLst>
          </p:cNvPr>
          <p:cNvSpPr/>
          <p:nvPr/>
        </p:nvSpPr>
        <p:spPr>
          <a:xfrm>
            <a:off x="4130979" y="344435"/>
            <a:ext cx="3527266" cy="34724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EE37A3CD-1BAC-6175-4755-9AC66A46B6FF}"/>
              </a:ext>
            </a:extLst>
          </p:cNvPr>
          <p:cNvSpPr txBox="1">
            <a:spLocks/>
          </p:cNvSpPr>
          <p:nvPr/>
        </p:nvSpPr>
        <p:spPr>
          <a:xfrm>
            <a:off x="3811566" y="159299"/>
            <a:ext cx="4076985" cy="6765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CO" sz="3200" dirty="0">
                <a:solidFill>
                  <a:srgbClr val="38AA00"/>
                </a:solidFill>
                <a:latin typeface="Work Sans Light" pitchFamily="2" charset="77"/>
              </a:rPr>
              <a:t>Objetivo General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="" xmlns:a16="http://schemas.microsoft.com/office/drawing/2014/main" id="{FBAA83CA-F5E1-3945-40AB-1CB1B233A0BF}"/>
              </a:ext>
            </a:extLst>
          </p:cNvPr>
          <p:cNvSpPr txBox="1"/>
          <p:nvPr/>
        </p:nvSpPr>
        <p:spPr>
          <a:xfrm>
            <a:off x="2862608" y="793496"/>
            <a:ext cx="615311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MX" sz="1600" dirty="0"/>
              <a:t>Desarrollar un aplicativo web y móvil denominado </a:t>
            </a:r>
            <a:r>
              <a:rPr lang="es-MX" sz="1600" dirty="0" err="1"/>
              <a:t>MetaFit</a:t>
            </a:r>
            <a:r>
              <a:rPr lang="es-MX" sz="1600" dirty="0"/>
              <a:t>, orientado al seguimiento y apoyo de los procesos de </a:t>
            </a:r>
            <a:r>
              <a:rPr lang="es-MX" sz="1600" dirty="0" smtClean="0"/>
              <a:t>afiliación, entrenamiento</a:t>
            </a:r>
            <a:r>
              <a:rPr lang="es-MX" sz="1600" dirty="0"/>
              <a:t>, nutrición y control del progreso físico de los usuarios de un gimnasio, con el fin de mejorar la gestión administrativa del gimnasio Sport </a:t>
            </a:r>
            <a:r>
              <a:rPr lang="es-MX" sz="1600" dirty="0" err="1"/>
              <a:t>Gym</a:t>
            </a:r>
            <a:r>
              <a:rPr lang="es-MX" sz="1600" dirty="0"/>
              <a:t> Sede 80 y optimizar la experiencia de afiliación, entrenamiento, nutrición y control de pagos de sus usuarios.</a:t>
            </a:r>
            <a:endParaRPr lang="es-MX" sz="1600" dirty="0">
              <a:latin typeface="Work Sans Light" pitchFamily="2" charset="0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="" xmlns:a16="http://schemas.microsoft.com/office/drawing/2014/main" id="{F5CB49A8-7161-5037-729C-90C8765D1574}"/>
              </a:ext>
            </a:extLst>
          </p:cNvPr>
          <p:cNvSpPr/>
          <p:nvPr/>
        </p:nvSpPr>
        <p:spPr>
          <a:xfrm>
            <a:off x="3811566" y="2739425"/>
            <a:ext cx="4166093" cy="34724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8" name="Título 1">
            <a:extLst>
              <a:ext uri="{FF2B5EF4-FFF2-40B4-BE49-F238E27FC236}">
                <a16:creationId xmlns="" xmlns:a16="http://schemas.microsoft.com/office/drawing/2014/main" id="{802FD35A-EA47-F375-CD6A-B61F8B61B3AD}"/>
              </a:ext>
            </a:extLst>
          </p:cNvPr>
          <p:cNvSpPr txBox="1">
            <a:spLocks/>
          </p:cNvSpPr>
          <p:nvPr/>
        </p:nvSpPr>
        <p:spPr>
          <a:xfrm>
            <a:off x="3900675" y="2481498"/>
            <a:ext cx="4076985" cy="6765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3200" dirty="0">
                <a:solidFill>
                  <a:srgbClr val="38AA00"/>
                </a:solidFill>
                <a:latin typeface="Work Sans Light" pitchFamily="2" charset="77"/>
              </a:rPr>
              <a:t>Objetivo Específicos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="" xmlns:a16="http://schemas.microsoft.com/office/drawing/2014/main" id="{FC78F7BD-2A34-855F-15C3-306C2603A128}"/>
              </a:ext>
            </a:extLst>
          </p:cNvPr>
          <p:cNvSpPr txBox="1"/>
          <p:nvPr/>
        </p:nvSpPr>
        <p:spPr>
          <a:xfrm>
            <a:off x="3678595" y="3158096"/>
            <a:ext cx="483481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s-MX" sz="1600" dirty="0">
              <a:latin typeface="Work Sans Light" pitchFamily="2" charset="77"/>
            </a:endParaRPr>
          </a:p>
        </p:txBody>
      </p:sp>
      <p:sp>
        <p:nvSpPr>
          <p:cNvPr id="10" name="Rectangle 3"/>
          <p:cNvSpPr>
            <a:spLocks noChangeArrowheads="1"/>
          </p:cNvSpPr>
          <p:nvPr/>
        </p:nvSpPr>
        <p:spPr bwMode="auto">
          <a:xfrm>
            <a:off x="2272561" y="3320204"/>
            <a:ext cx="7908669" cy="3046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s-VE" altLang="es-VE" sz="1600" dirty="0"/>
              <a:t>Desarrollar un módulo de gestión de usuarios administrativos para administrar el personal mediante roles y permisos.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s-VE" altLang="es-VE" sz="1600" dirty="0"/>
              <a:t>Desarrollar un módulo de gestión de afiliados para centralizar el registro y actualización de su información.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s-VE" altLang="es-VE" sz="1600" dirty="0"/>
              <a:t>Desarrollar un módulo de gestión de rutinas para asignar planes de entrenamiento personalizados.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s-VE" altLang="es-VE" sz="1600" dirty="0"/>
              <a:t>Desarrollar un módulo de planes de nutrición para asignar dietas personalizadas según las necesidades del afiliado.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s-VE" altLang="es-VE" sz="1600" dirty="0"/>
              <a:t>Desarrollar un módulo de gestión de membresías y pagos para controlar afiliaciones, registrar pagos y generar reportes.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s-VE" altLang="es-VE" sz="1600" dirty="0"/>
              <a:t>Desarrollar un módulo de gestión de progreso para registrar y consultar la evolución física de los afiliados. </a:t>
            </a:r>
          </a:p>
        </p:txBody>
      </p:sp>
    </p:spTree>
    <p:extLst>
      <p:ext uri="{BB962C8B-B14F-4D97-AF65-F5344CB8AC3E}">
        <p14:creationId xmlns:p14="http://schemas.microsoft.com/office/powerpoint/2010/main" val="5912055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CAC1D880-FC17-3789-2435-5FF7492EA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268" y="54336"/>
            <a:ext cx="10515600" cy="1325563"/>
          </a:xfrm>
        </p:spPr>
        <p:txBody>
          <a:bodyPr/>
          <a:lstStyle/>
          <a:p>
            <a:r>
              <a:rPr lang="es-CO" dirty="0">
                <a:solidFill>
                  <a:schemeClr val="bg1"/>
                </a:solidFill>
                <a:latin typeface="Work Sans Medium" pitchFamily="2" charset="77"/>
              </a:rPr>
              <a:t>Justificación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="" xmlns:a16="http://schemas.microsoft.com/office/drawing/2014/main" id="{0CA39C3C-B25E-C804-C832-61458138A925}"/>
              </a:ext>
            </a:extLst>
          </p:cNvPr>
          <p:cNvSpPr txBox="1"/>
          <p:nvPr/>
        </p:nvSpPr>
        <p:spPr>
          <a:xfrm>
            <a:off x="843304" y="1798859"/>
            <a:ext cx="76140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MX" sz="1600" dirty="0" err="1"/>
              <a:t>MetaFit</a:t>
            </a:r>
            <a:r>
              <a:rPr lang="es-MX" sz="1600" dirty="0"/>
              <a:t> </a:t>
            </a:r>
            <a:r>
              <a:rPr lang="es-MX" sz="1600" dirty="0" smtClean="0"/>
              <a:t>centraliza </a:t>
            </a:r>
            <a:r>
              <a:rPr lang="es-MX" sz="1600" dirty="0"/>
              <a:t>en una sola plataforma procesos que antes estaban dispersos en papel, hojas de cálculo y cuadernos, beneficiando tanto al personal administrativo como a los afiliados.</a:t>
            </a:r>
            <a:endParaRPr lang="es-MX" sz="1600" b="1" dirty="0">
              <a:latin typeface="Work Sans Light" pitchFamily="2" charset="77"/>
            </a:endParaRPr>
          </a:p>
        </p:txBody>
      </p:sp>
      <p:pic>
        <p:nvPicPr>
          <p:cNvPr id="7" name="Picture 8">
            <a:extLst>
              <a:ext uri="{FF2B5EF4-FFF2-40B4-BE49-F238E27FC236}">
                <a16:creationId xmlns="" xmlns:a16="http://schemas.microsoft.com/office/drawing/2014/main" id="{243B358C-450B-48A8-9038-BEF3E30454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7359" y="104277"/>
            <a:ext cx="1479562" cy="1225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6">
            <a:extLst>
              <a:ext uri="{FF2B5EF4-FFF2-40B4-BE49-F238E27FC236}">
                <a16:creationId xmlns="" xmlns:a16="http://schemas.microsoft.com/office/drawing/2014/main" id="{21D8FE14-DD97-4A01-BCB7-738350CDD6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679" b="15294"/>
          <a:stretch/>
        </p:blipFill>
        <p:spPr bwMode="auto">
          <a:xfrm>
            <a:off x="9778196" y="160418"/>
            <a:ext cx="1352366" cy="11134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584570" y="2457987"/>
            <a:ext cx="9913236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VE" altLang="es-VE" sz="1600" b="1" i="0" u="non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VE" altLang="es-VE" sz="1600" b="1" i="0" u="non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Módulo de usuarios administrativos: </a:t>
            </a:r>
            <a:r>
              <a:rPr kumimoji="0" lang="es-VE" altLang="es-VE" sz="1600" b="0" i="0" u="non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gestiona el personal del gimnasio con roles diferenciados (</a:t>
            </a:r>
            <a:r>
              <a:rPr kumimoji="0" lang="es-VE" altLang="es-VE" sz="1600" b="0" i="0" u="non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</a:rPr>
              <a:t>Admin</a:t>
            </a:r>
            <a:r>
              <a:rPr kumimoji="0" lang="es-VE" altLang="es-VE" sz="1600" b="0" i="0" u="non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, Recepcionista, Entrenador). Soluciona el control de accesos y responsabilidades; beneficia al Administrador, que gana trazabilidad sobre quién hace qué en el sistema.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VE" altLang="es-VE" sz="1600" b="1" i="0" u="non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Módulo de afiliados:</a:t>
            </a:r>
            <a:r>
              <a:rPr kumimoji="0" lang="es-VE" altLang="es-VE" sz="1600" b="0" i="0" u="non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digitaliza el registro y la consulta de información de los miembros. Soluciona la pérdida y duplicación de datos en papel; beneficia a Recepción, que agiliza el proceso de inscripción, y al afiliado, que tiene su información centralizada. </a:t>
            </a:r>
            <a:endParaRPr kumimoji="0" lang="es-VE" altLang="es-VE" sz="1600" b="1" i="0" u="non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VE" altLang="es-VE" sz="1600" b="1" i="0" u="non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Módulo de rutinas: </a:t>
            </a:r>
            <a:r>
              <a:rPr kumimoji="0" lang="es-VE" altLang="es-VE" sz="1600" b="0" i="0" u="non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asigna planes de entrenamiento personalizados, filtrando automáticamente ejercicios prohibidos por restricciones médicas. Soluciona los planes genéricos e inseguros; beneficia al Entrenador, que ahorra tiempo en el diseño, y al afiliado, que entrena de forma segura y ajustada a su condición.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VE" altLang="es-VE" sz="1600" b="1" i="0" u="non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Módulo de nutrición: </a:t>
            </a:r>
            <a:r>
              <a:rPr kumimoji="0" lang="es-VE" altLang="es-VE" sz="1600" b="0" i="0" u="non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asigna dietas con metas calóricas y macronutrientes filtrados por restricción médica. Soluciona la falta de seguimiento nutricional estructurado; beneficia al afiliado en su proceso de mejora física.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VE" altLang="es-VE" sz="1600" b="1" i="0" u="non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Módulo de membresías y pagos: </a:t>
            </a:r>
            <a:r>
              <a:rPr kumimoji="0" lang="es-VE" altLang="es-VE" sz="1600" b="0" i="0" u="non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registra pagos, calcula vencimientos y genera reportes financieros. Soluciona la falta de control de ingresos; beneficia al Administrador para la toma de decisiones financieras y a Recepción para el cobro ágil.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VE" altLang="es-VE" sz="1600" b="1" i="0" u="non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Módulo de progreso físico: </a:t>
            </a:r>
            <a:r>
              <a:rPr kumimoji="0" lang="es-VE" altLang="es-VE" sz="1600" b="0" i="0" u="non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registra mediciones (peso, IMC, % grasa, medidas corporales</a:t>
            </a:r>
            <a:r>
              <a:rPr kumimoji="0" lang="es-VE" altLang="es-VE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) y las muestra en la app móvil. Soluciona la ausencia de seguimiento visible; beneficia directamente al afiliado, que ve su evolución, y al entrenador, que ajusta el plan con datos reales. </a:t>
            </a:r>
          </a:p>
        </p:txBody>
      </p:sp>
    </p:spTree>
    <p:extLst>
      <p:ext uri="{BB962C8B-B14F-4D97-AF65-F5344CB8AC3E}">
        <p14:creationId xmlns:p14="http://schemas.microsoft.com/office/powerpoint/2010/main" val="14012548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CAC1D880-FC17-3789-2435-5FF7492EA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268" y="54336"/>
            <a:ext cx="10515600" cy="1325563"/>
          </a:xfrm>
        </p:spPr>
        <p:txBody>
          <a:bodyPr/>
          <a:lstStyle/>
          <a:p>
            <a:r>
              <a:rPr lang="es-CO" dirty="0">
                <a:solidFill>
                  <a:schemeClr val="bg1"/>
                </a:solidFill>
                <a:latin typeface="Work Sans Medium" pitchFamily="2" charset="77"/>
              </a:rPr>
              <a:t>Justificación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="" xmlns:a16="http://schemas.microsoft.com/office/drawing/2014/main" id="{0CA39C3C-B25E-C804-C832-61458138A925}"/>
              </a:ext>
            </a:extLst>
          </p:cNvPr>
          <p:cNvSpPr txBox="1"/>
          <p:nvPr/>
        </p:nvSpPr>
        <p:spPr>
          <a:xfrm>
            <a:off x="584570" y="1839803"/>
            <a:ext cx="1067698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MX" sz="1600" dirty="0"/>
              <a:t>El proyecto se concibe como un aplicativo web y móvil, no solo web, porque los dos perfiles de usuario tienen necesidades distintas de acceso: el personal administrativo (</a:t>
            </a:r>
            <a:r>
              <a:rPr lang="es-MX" sz="1600" dirty="0" err="1"/>
              <a:t>Admin</a:t>
            </a:r>
            <a:r>
              <a:rPr lang="es-MX" sz="1600" dirty="0"/>
              <a:t>, Recepcionista, Entrenador) trabaja desde el gimnasio en equipos de escritorio, por lo que una interfaz web es más cómoda para tareas de gestión, CRUD y consulta de reportes; los afiliados, en cambio, están entrenando dentro del gimnasio y no llevan un portátil, por lo que una app móvil les permite consultar su rutina, dieta y progreso directamente desde su celular en cualquier momento.</a:t>
            </a:r>
            <a:endParaRPr lang="es-MX" sz="1600" b="1" dirty="0">
              <a:latin typeface="Work Sans Light" pitchFamily="2" charset="77"/>
            </a:endParaRPr>
          </a:p>
        </p:txBody>
      </p:sp>
      <p:pic>
        <p:nvPicPr>
          <p:cNvPr id="7" name="Picture 8">
            <a:extLst>
              <a:ext uri="{FF2B5EF4-FFF2-40B4-BE49-F238E27FC236}">
                <a16:creationId xmlns="" xmlns:a16="http://schemas.microsoft.com/office/drawing/2014/main" id="{243B358C-450B-48A8-9038-BEF3E30454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7359" y="104277"/>
            <a:ext cx="1479562" cy="1225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6">
            <a:extLst>
              <a:ext uri="{FF2B5EF4-FFF2-40B4-BE49-F238E27FC236}">
                <a16:creationId xmlns="" xmlns:a16="http://schemas.microsoft.com/office/drawing/2014/main" id="{21D8FE14-DD97-4A01-BCB7-738350CDD6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679" b="15294"/>
          <a:stretch/>
        </p:blipFill>
        <p:spPr bwMode="auto">
          <a:xfrm>
            <a:off x="9778196" y="160418"/>
            <a:ext cx="1352366" cy="11134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27589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FF67CBC-1536-A090-A5B5-FE205F3AF4AD}"/>
              </a:ext>
            </a:extLst>
          </p:cNvPr>
          <p:cNvSpPr txBox="1">
            <a:spLocks/>
          </p:cNvSpPr>
          <p:nvPr/>
        </p:nvSpPr>
        <p:spPr>
          <a:xfrm>
            <a:off x="456236" y="457723"/>
            <a:ext cx="10515600" cy="6765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dirty="0">
                <a:solidFill>
                  <a:schemeClr val="tx1">
                    <a:lumMod val="95000"/>
                    <a:lumOff val="5000"/>
                  </a:schemeClr>
                </a:solidFill>
                <a:latin typeface="Work Sans Medium" pitchFamily="2" charset="77"/>
              </a:rPr>
              <a:t>Alcance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="" xmlns:a16="http://schemas.microsoft.com/office/drawing/2014/main" id="{AF636D40-6663-725B-8E0D-34BDB07692AF}"/>
              </a:ext>
            </a:extLst>
          </p:cNvPr>
          <p:cNvSpPr txBox="1"/>
          <p:nvPr/>
        </p:nvSpPr>
        <p:spPr>
          <a:xfrm>
            <a:off x="456236" y="1716159"/>
            <a:ext cx="8930955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600" dirty="0"/>
              <a:t>El alcance de </a:t>
            </a:r>
            <a:r>
              <a:rPr lang="es-MX" sz="1600" dirty="0" err="1"/>
              <a:t>MetaFit</a:t>
            </a:r>
            <a:r>
              <a:rPr lang="es-MX" sz="1600" dirty="0"/>
              <a:t> se limita a Sport </a:t>
            </a:r>
            <a:r>
              <a:rPr lang="es-MX" sz="1600" dirty="0" err="1"/>
              <a:t>Gym</a:t>
            </a:r>
            <a:r>
              <a:rPr lang="es-MX" sz="1600" dirty="0"/>
              <a:t> Sede 80 (Bogotá) e incluye</a:t>
            </a:r>
            <a:r>
              <a:rPr lang="es-MX" sz="1600" dirty="0" smtClean="0"/>
              <a:t>:</a:t>
            </a:r>
          </a:p>
          <a:p>
            <a:endParaRPr lang="es-MX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600" dirty="0"/>
              <a:t>Cuatro roles de usuario: Administrador, Recepcionista, Entrenador (vía web) y Afiliado (vía app móvil).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600" dirty="0"/>
              <a:t>Gestión completa (CRUD) de afiliados, personal, catálogo de ejercicios y catálogo de alimentos.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600" dirty="0"/>
              <a:t>Asignación de rutinas y planes nutricionales personalizados, filtrados automáticamente por restricciones médicas.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600" dirty="0"/>
              <a:t>Gestión de membresías: registro de pagos, semáforo de estado, precio de membresía configurable.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600" dirty="0" err="1"/>
              <a:t>Dashboard</a:t>
            </a:r>
            <a:r>
              <a:rPr lang="es-MX" sz="1600" dirty="0"/>
              <a:t> con </a:t>
            </a:r>
            <a:r>
              <a:rPr lang="es-MX" sz="1600" dirty="0" err="1"/>
              <a:t>KPIs</a:t>
            </a:r>
            <a:r>
              <a:rPr lang="es-MX" sz="1600" dirty="0"/>
              <a:t> y panel financiero con exportación de reportes a PDF.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600" dirty="0"/>
              <a:t>Sistema de notificaciones contextuales por rol.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600" dirty="0"/>
              <a:t>Aplicación móvil con cuatro secciones para el afiliado: perfil, rutina, dieta y progreso físico.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600" dirty="0"/>
              <a:t>Seguridad multicapa (JWT, </a:t>
            </a:r>
            <a:r>
              <a:rPr lang="es-MX" sz="1600" dirty="0" err="1"/>
              <a:t>bcrypt</a:t>
            </a:r>
            <a:r>
              <a:rPr lang="es-MX" sz="1600" dirty="0"/>
              <a:t>, control de acceso por rol) y despliegue mediante </a:t>
            </a:r>
            <a:r>
              <a:rPr lang="es-MX" sz="1600" dirty="0" err="1"/>
              <a:t>Docker</a:t>
            </a:r>
            <a:r>
              <a:rPr lang="es-MX" sz="1600" dirty="0" smtClean="0"/>
              <a:t>.</a:t>
            </a:r>
          </a:p>
          <a:p>
            <a:endParaRPr lang="es-MX" sz="1600" dirty="0"/>
          </a:p>
          <a:p>
            <a:r>
              <a:rPr lang="es-MX" sz="1600" dirty="0"/>
              <a:t>Queda fuera del alcance de esta fase (trabajo futuro): integración con pasarelas de pago en línea (</a:t>
            </a:r>
            <a:r>
              <a:rPr lang="es-MX" sz="1600" dirty="0" err="1"/>
              <a:t>Stripe</a:t>
            </a:r>
            <a:r>
              <a:rPr lang="es-MX" sz="1600" dirty="0"/>
              <a:t>/</a:t>
            </a:r>
            <a:r>
              <a:rPr lang="es-MX" sz="1600" dirty="0" err="1"/>
              <a:t>PayU</a:t>
            </a:r>
            <a:r>
              <a:rPr lang="es-MX" sz="1600" dirty="0"/>
              <a:t>), integración con dispositivos </a:t>
            </a:r>
            <a:r>
              <a:rPr lang="es-MX" sz="1600" dirty="0" err="1"/>
              <a:t>wearables</a:t>
            </a:r>
            <a:r>
              <a:rPr lang="es-MX" sz="1600" dirty="0"/>
              <a:t>, notificaciones </a:t>
            </a:r>
            <a:r>
              <a:rPr lang="es-MX" sz="1600" dirty="0" err="1"/>
              <a:t>push</a:t>
            </a:r>
            <a:r>
              <a:rPr lang="es-MX" sz="1600" dirty="0"/>
              <a:t> en la app móvil, soporte </a:t>
            </a:r>
            <a:r>
              <a:rPr lang="es-MX" sz="1600" dirty="0" err="1"/>
              <a:t>multi</a:t>
            </a:r>
            <a:r>
              <a:rPr lang="es-MX" sz="1600" dirty="0"/>
              <a:t>-sede o </a:t>
            </a:r>
            <a:r>
              <a:rPr lang="es-MX" sz="1600" dirty="0" err="1"/>
              <a:t>multi</a:t>
            </a:r>
            <a:r>
              <a:rPr lang="es-MX" sz="1600" dirty="0"/>
              <a:t>-gimnasio, modo offline, exportación de reportes a Excel y CI/CD automatizado.</a:t>
            </a:r>
          </a:p>
        </p:txBody>
      </p:sp>
      <p:pic>
        <p:nvPicPr>
          <p:cNvPr id="7" name="Picture 8">
            <a:extLst>
              <a:ext uri="{FF2B5EF4-FFF2-40B4-BE49-F238E27FC236}">
                <a16:creationId xmlns="" xmlns:a16="http://schemas.microsoft.com/office/drawing/2014/main" id="{D5C6FDA3-4F48-4791-85DC-5E20A5A010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7359" y="104277"/>
            <a:ext cx="1479562" cy="1225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6">
            <a:extLst>
              <a:ext uri="{FF2B5EF4-FFF2-40B4-BE49-F238E27FC236}">
                <a16:creationId xmlns="" xmlns:a16="http://schemas.microsoft.com/office/drawing/2014/main" id="{777E2CF4-1FF2-4EFA-A46C-8CEE9A58825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679" b="15294"/>
          <a:stretch/>
        </p:blipFill>
        <p:spPr bwMode="auto">
          <a:xfrm>
            <a:off x="9778196" y="160418"/>
            <a:ext cx="1352366" cy="11134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42347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CAC1D880-FC17-3789-2435-5FF7492EA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509" y="110482"/>
            <a:ext cx="10515600" cy="1163338"/>
          </a:xfrm>
        </p:spPr>
        <p:txBody>
          <a:bodyPr/>
          <a:lstStyle/>
          <a:p>
            <a:r>
              <a:rPr lang="es-MX" dirty="0">
                <a:solidFill>
                  <a:schemeClr val="bg1"/>
                </a:solidFill>
                <a:latin typeface="Work Sans Medium" pitchFamily="2" charset="77"/>
              </a:rPr>
              <a:t>Selección Del Stack</a:t>
            </a:r>
            <a:endParaRPr lang="es-CO" dirty="0">
              <a:solidFill>
                <a:schemeClr val="bg1"/>
              </a:solidFill>
              <a:latin typeface="Work Sans Medium" pitchFamily="2" charset="77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="" xmlns:a16="http://schemas.microsoft.com/office/drawing/2014/main" id="{0CA39C3C-B25E-C804-C832-61458138A925}"/>
              </a:ext>
            </a:extLst>
          </p:cNvPr>
          <p:cNvSpPr txBox="1"/>
          <p:nvPr/>
        </p:nvSpPr>
        <p:spPr>
          <a:xfrm>
            <a:off x="569456" y="2170356"/>
            <a:ext cx="10269706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600" dirty="0"/>
              <a:t>La selección del </a:t>
            </a:r>
            <a:r>
              <a:rPr lang="es-MX" sz="1600" dirty="0" err="1"/>
              <a:t>stack</a:t>
            </a:r>
            <a:r>
              <a:rPr lang="es-MX" sz="1600" dirty="0"/>
              <a:t> se hizo priorizando coherencia entre los dos frentes del proyecto (web y móvil), facilidad de desarrollo y soporte de la comunidad</a:t>
            </a:r>
            <a:r>
              <a:rPr lang="es-MX" sz="1600" dirty="0" smtClean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MX" sz="16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MX" sz="1600" dirty="0" err="1"/>
              <a:t>Frontend</a:t>
            </a:r>
            <a:r>
              <a:rPr lang="es-MX" sz="1600" dirty="0"/>
              <a:t> Web: </a:t>
            </a:r>
            <a:r>
              <a:rPr lang="es-MX" sz="1600" dirty="0" err="1"/>
              <a:t>React</a:t>
            </a:r>
            <a:r>
              <a:rPr lang="es-MX" sz="1600" dirty="0"/>
              <a:t> 19 + Vite, con </a:t>
            </a:r>
            <a:r>
              <a:rPr lang="es-MX" sz="1600" dirty="0" err="1"/>
              <a:t>Bootstrap</a:t>
            </a:r>
            <a:r>
              <a:rPr lang="es-MX" sz="1600" dirty="0"/>
              <a:t> 5 para estilos y Chart.js para visualización de datos en el </a:t>
            </a:r>
            <a:r>
              <a:rPr lang="es-MX" sz="1600" dirty="0" err="1"/>
              <a:t>dashboard</a:t>
            </a:r>
            <a:r>
              <a:rPr lang="es-MX" sz="1600" dirty="0"/>
              <a:t>. Desarrollado en Visual Studio </a:t>
            </a:r>
            <a:r>
              <a:rPr lang="es-MX" sz="1600" dirty="0" err="1"/>
              <a:t>Code</a:t>
            </a:r>
            <a:r>
              <a:rPr lang="es-MX" sz="16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MX" sz="1600" dirty="0" err="1"/>
              <a:t>Frontend</a:t>
            </a:r>
            <a:r>
              <a:rPr lang="es-MX" sz="1600" dirty="0"/>
              <a:t> Móvil: </a:t>
            </a:r>
            <a:r>
              <a:rPr lang="es-MX" sz="1600" dirty="0" err="1"/>
              <a:t>React</a:t>
            </a:r>
            <a:r>
              <a:rPr lang="es-MX" sz="1600" dirty="0"/>
              <a:t> </a:t>
            </a:r>
            <a:r>
              <a:rPr lang="es-MX" sz="1600" dirty="0" err="1"/>
              <a:t>Native</a:t>
            </a:r>
            <a:r>
              <a:rPr lang="es-MX" sz="1600" dirty="0"/>
              <a:t> con Expo (SDK 55), probado mediante Expo </a:t>
            </a:r>
            <a:r>
              <a:rPr lang="es-MX" sz="1600" dirty="0" err="1"/>
              <a:t>Go</a:t>
            </a:r>
            <a:r>
              <a:rPr lang="es-MX" sz="1600" dirty="0"/>
              <a:t> en dispositivo físico. También desarrollado en Visual Studio </a:t>
            </a:r>
            <a:r>
              <a:rPr lang="es-MX" sz="1600" dirty="0" err="1"/>
              <a:t>Code</a:t>
            </a:r>
            <a:r>
              <a:rPr lang="es-MX" sz="16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MX" sz="1600" dirty="0" err="1"/>
              <a:t>Backend</a:t>
            </a:r>
            <a:r>
              <a:rPr lang="es-MX" sz="1600" dirty="0"/>
              <a:t>: Node.js con Express, aplicando autenticación JWT y cifrado de contraseñas con </a:t>
            </a:r>
            <a:r>
              <a:rPr lang="es-MX" sz="1600" dirty="0" err="1"/>
              <a:t>bcrypt</a:t>
            </a:r>
            <a:r>
              <a:rPr lang="es-MX" sz="1600" dirty="0"/>
              <a:t>. Desarrollado en Visual Studio </a:t>
            </a:r>
            <a:r>
              <a:rPr lang="es-MX" sz="1600" dirty="0" err="1"/>
              <a:t>Code</a:t>
            </a:r>
            <a:r>
              <a:rPr lang="es-MX" sz="16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MX" sz="1600" dirty="0"/>
              <a:t>Base de Datos: </a:t>
            </a:r>
            <a:r>
              <a:rPr lang="es-MX" sz="1600" dirty="0" err="1"/>
              <a:t>MySQL</a:t>
            </a:r>
            <a:r>
              <a:rPr lang="es-MX" sz="1600" dirty="0"/>
              <a:t> 8.0, administrada mediante </a:t>
            </a:r>
            <a:r>
              <a:rPr lang="es-MX" sz="1600" dirty="0" err="1"/>
              <a:t>phpMyAdmin</a:t>
            </a:r>
            <a:r>
              <a:rPr lang="es-MX" sz="16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MX" sz="1600" dirty="0"/>
              <a:t>Infraestructura: </a:t>
            </a:r>
            <a:r>
              <a:rPr lang="es-MX" sz="1600" dirty="0" err="1"/>
              <a:t>Docker</a:t>
            </a:r>
            <a:r>
              <a:rPr lang="es-MX" sz="1600" dirty="0"/>
              <a:t> </a:t>
            </a:r>
            <a:r>
              <a:rPr lang="es-MX" sz="1600" dirty="0" err="1"/>
              <a:t>Compose</a:t>
            </a:r>
            <a:r>
              <a:rPr lang="es-MX" sz="1600" dirty="0"/>
              <a:t> para orquestar los cuatro servicios del sistema (base de datos, </a:t>
            </a:r>
            <a:r>
              <a:rPr lang="es-MX" sz="1600" dirty="0" err="1"/>
              <a:t>backend</a:t>
            </a:r>
            <a:r>
              <a:rPr lang="es-MX" sz="1600" dirty="0"/>
              <a:t>, </a:t>
            </a:r>
            <a:r>
              <a:rPr lang="es-MX" sz="1600" dirty="0" err="1"/>
              <a:t>frontend</a:t>
            </a:r>
            <a:r>
              <a:rPr lang="es-MX" sz="1600" dirty="0"/>
              <a:t> y </a:t>
            </a:r>
            <a:r>
              <a:rPr lang="es-MX" sz="1600" dirty="0" err="1"/>
              <a:t>phpMyAdmin</a:t>
            </a:r>
            <a:r>
              <a:rPr lang="es-MX" sz="1600" dirty="0"/>
              <a:t>), facilitando el despliegue con un solo comando.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MX" sz="1600" dirty="0"/>
              <a:t>Documentación de API: </a:t>
            </a:r>
            <a:r>
              <a:rPr lang="es-MX" sz="1600" dirty="0" err="1"/>
              <a:t>Swagger</a:t>
            </a:r>
            <a:r>
              <a:rPr lang="es-MX" sz="1600" dirty="0"/>
              <a:t> (</a:t>
            </a:r>
            <a:r>
              <a:rPr lang="es-MX" sz="1600" dirty="0" err="1"/>
              <a:t>OpenAPI</a:t>
            </a:r>
            <a:r>
              <a:rPr lang="es-MX" sz="1600" dirty="0"/>
              <a:t>) y colecciones de </a:t>
            </a:r>
            <a:r>
              <a:rPr lang="es-MX" sz="1600" dirty="0" err="1"/>
              <a:t>Postman</a:t>
            </a:r>
            <a:r>
              <a:rPr lang="es-MX" sz="1600" dirty="0"/>
              <a:t> para pruebas y consulta de </a:t>
            </a:r>
            <a:r>
              <a:rPr lang="es-MX" sz="1600" dirty="0" err="1"/>
              <a:t>endpoints</a:t>
            </a:r>
            <a:r>
              <a:rPr lang="es-MX" sz="1600" dirty="0"/>
              <a:t>.</a:t>
            </a:r>
          </a:p>
          <a:p>
            <a:endParaRPr lang="es-MX" sz="1600" dirty="0">
              <a:latin typeface="Work Sans Light" pitchFamily="2" charset="77"/>
            </a:endParaRPr>
          </a:p>
        </p:txBody>
      </p:sp>
      <p:pic>
        <p:nvPicPr>
          <p:cNvPr id="7" name="Picture 8">
            <a:extLst>
              <a:ext uri="{FF2B5EF4-FFF2-40B4-BE49-F238E27FC236}">
                <a16:creationId xmlns="" xmlns:a16="http://schemas.microsoft.com/office/drawing/2014/main" id="{43D66FF9-E561-4B65-A2E2-1FB948D80C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7359" y="104277"/>
            <a:ext cx="1479562" cy="1225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6">
            <a:extLst>
              <a:ext uri="{FF2B5EF4-FFF2-40B4-BE49-F238E27FC236}">
                <a16:creationId xmlns="" xmlns:a16="http://schemas.microsoft.com/office/drawing/2014/main" id="{F0F842F9-549A-4B5E-A4A9-D4EC405B96F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679" b="15294"/>
          <a:stretch/>
        </p:blipFill>
        <p:spPr bwMode="auto">
          <a:xfrm>
            <a:off x="9778196" y="160418"/>
            <a:ext cx="1352366" cy="11134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369638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CAC1D880-FC17-3789-2435-5FF7492EA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509" y="110481"/>
            <a:ext cx="10515600" cy="1325563"/>
          </a:xfrm>
        </p:spPr>
        <p:txBody>
          <a:bodyPr/>
          <a:lstStyle/>
          <a:p>
            <a:r>
              <a:rPr lang="es-CO" dirty="0">
                <a:solidFill>
                  <a:schemeClr val="bg1"/>
                </a:solidFill>
                <a:latin typeface="Work Sans Medium" pitchFamily="2" charset="77"/>
              </a:rPr>
              <a:t>Delimitación</a:t>
            </a:r>
          </a:p>
        </p:txBody>
      </p:sp>
      <p:pic>
        <p:nvPicPr>
          <p:cNvPr id="7" name="Picture 8">
            <a:extLst>
              <a:ext uri="{FF2B5EF4-FFF2-40B4-BE49-F238E27FC236}">
                <a16:creationId xmlns="" xmlns:a16="http://schemas.microsoft.com/office/drawing/2014/main" id="{43D66FF9-E561-4B65-A2E2-1FB948D80C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7359" y="104277"/>
            <a:ext cx="1479562" cy="1225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6">
            <a:extLst>
              <a:ext uri="{FF2B5EF4-FFF2-40B4-BE49-F238E27FC236}">
                <a16:creationId xmlns="" xmlns:a16="http://schemas.microsoft.com/office/drawing/2014/main" id="{F0F842F9-549A-4B5E-A4A9-D4EC405B96F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679" b="15294"/>
          <a:stretch/>
        </p:blipFill>
        <p:spPr bwMode="auto">
          <a:xfrm>
            <a:off x="9778196" y="160418"/>
            <a:ext cx="1352366" cy="11134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n 3">
            <a:extLst>
              <a:ext uri="{FF2B5EF4-FFF2-40B4-BE49-F238E27FC236}">
                <a16:creationId xmlns="" xmlns:a16="http://schemas.microsoft.com/office/drawing/2014/main" id="{E783EFA9-ED69-4902-9E4A-86E351606F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9700" y="1515693"/>
            <a:ext cx="8789218" cy="5342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38266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CAC1D880-FC17-3789-2435-5FF7492EA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6236" y="110481"/>
            <a:ext cx="10515600" cy="1325563"/>
          </a:xfrm>
        </p:spPr>
        <p:txBody>
          <a:bodyPr>
            <a:normAutofit/>
          </a:bodyPr>
          <a:lstStyle/>
          <a:p>
            <a:r>
              <a:rPr lang="es-ES" sz="3200" dirty="0">
                <a:solidFill>
                  <a:schemeClr val="bg1"/>
                </a:solidFill>
                <a:latin typeface="Work Sans Medium" pitchFamily="2" charset="77"/>
              </a:rPr>
              <a:t>Entregables Proyecto Formativo</a:t>
            </a:r>
            <a:br>
              <a:rPr lang="es-ES" sz="3200" dirty="0">
                <a:solidFill>
                  <a:schemeClr val="bg1"/>
                </a:solidFill>
                <a:latin typeface="Work Sans Medium" pitchFamily="2" charset="77"/>
              </a:rPr>
            </a:br>
            <a:r>
              <a:rPr lang="es-ES" sz="3200" dirty="0">
                <a:solidFill>
                  <a:schemeClr val="bg1"/>
                </a:solidFill>
                <a:latin typeface="Work Sans Medium" pitchFamily="2" charset="77"/>
              </a:rPr>
              <a:t>por Trimestre</a:t>
            </a:r>
            <a:endParaRPr lang="es-CO" sz="3200" dirty="0">
              <a:solidFill>
                <a:schemeClr val="bg1"/>
              </a:solidFill>
              <a:latin typeface="Work Sans Medium" pitchFamily="2" charset="77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="" xmlns:a16="http://schemas.microsoft.com/office/drawing/2014/main" id="{61E176E7-6E48-7043-4A78-359C9D31D057}"/>
              </a:ext>
            </a:extLst>
          </p:cNvPr>
          <p:cNvSpPr txBox="1"/>
          <p:nvPr/>
        </p:nvSpPr>
        <p:spPr>
          <a:xfrm>
            <a:off x="1366063" y="1881018"/>
            <a:ext cx="385436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600" dirty="0">
                <a:latin typeface="Calibri" panose="020F0502020204030204" pitchFamily="34" charset="0"/>
                <a:cs typeface="Calibri" panose="020F0502020204030204" pitchFamily="34" charset="0"/>
              </a:rPr>
              <a:t>Plan de Proyecto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600" dirty="0">
                <a:latin typeface="Calibri" panose="020F0502020204030204" pitchFamily="34" charset="0"/>
                <a:cs typeface="Calibri" panose="020F0502020204030204" pitchFamily="34" charset="0"/>
              </a:rPr>
              <a:t>Levantamiento de Información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600" dirty="0">
                <a:latin typeface="Calibri" panose="020F0502020204030204" pitchFamily="34" charset="0"/>
                <a:cs typeface="Calibri" panose="020F0502020204030204" pitchFamily="34" charset="0"/>
              </a:rPr>
              <a:t>Diagrama de Procesos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600" dirty="0">
                <a:latin typeface="Calibri" panose="020F0502020204030204" pitchFamily="34" charset="0"/>
                <a:cs typeface="Calibri" panose="020F0502020204030204" pitchFamily="34" charset="0"/>
              </a:rPr>
              <a:t>IEEE-830 o Historias de Usuario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600" dirty="0">
                <a:latin typeface="Calibri" panose="020F0502020204030204" pitchFamily="34" charset="0"/>
                <a:cs typeface="Calibri" panose="020F0502020204030204" pitchFamily="34" charset="0"/>
              </a:rPr>
              <a:t>Diagrama Casos de Uso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600" dirty="0">
                <a:latin typeface="Calibri" panose="020F0502020204030204" pitchFamily="34" charset="0"/>
                <a:cs typeface="Calibri" panose="020F0502020204030204" pitchFamily="34" charset="0"/>
              </a:rPr>
              <a:t>Casos de Uso Extendido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600" dirty="0">
                <a:latin typeface="Calibri" panose="020F0502020204030204" pitchFamily="34" charset="0"/>
                <a:cs typeface="Calibri" panose="020F0502020204030204" pitchFamily="34" charset="0"/>
              </a:rPr>
              <a:t>Diagrama de Clases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600" dirty="0">
                <a:latin typeface="Calibri" panose="020F0502020204030204" pitchFamily="34" charset="0"/>
                <a:cs typeface="Calibri" panose="020F0502020204030204" pitchFamily="34" charset="0"/>
              </a:rPr>
              <a:t>Prototipo No Funcional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600" dirty="0">
                <a:latin typeface="Calibri" panose="020F0502020204030204" pitchFamily="34" charset="0"/>
                <a:cs typeface="Calibri" panose="020F0502020204030204" pitchFamily="34" charset="0"/>
              </a:rPr>
              <a:t>Patrón de Diseño</a:t>
            </a:r>
          </a:p>
        </p:txBody>
      </p:sp>
      <p:grpSp>
        <p:nvGrpSpPr>
          <p:cNvPr id="12" name="Grupo 11">
            <a:extLst>
              <a:ext uri="{FF2B5EF4-FFF2-40B4-BE49-F238E27FC236}">
                <a16:creationId xmlns="" xmlns:a16="http://schemas.microsoft.com/office/drawing/2014/main" id="{1CFE1397-E268-A3A6-3EA4-AB17D743D504}"/>
              </a:ext>
            </a:extLst>
          </p:cNvPr>
          <p:cNvGrpSpPr/>
          <p:nvPr/>
        </p:nvGrpSpPr>
        <p:grpSpPr>
          <a:xfrm>
            <a:off x="1111717" y="1494678"/>
            <a:ext cx="3239167" cy="347863"/>
            <a:chOff x="668953" y="1494678"/>
            <a:chExt cx="3239167" cy="347863"/>
          </a:xfrm>
        </p:grpSpPr>
        <p:sp>
          <p:nvSpPr>
            <p:cNvPr id="3" name="Rectángulo 2">
              <a:extLst>
                <a:ext uri="{FF2B5EF4-FFF2-40B4-BE49-F238E27FC236}">
                  <a16:creationId xmlns="" xmlns:a16="http://schemas.microsoft.com/office/drawing/2014/main" id="{5F88D1D8-4E77-172A-4075-4BC0AE7244E2}"/>
                </a:ext>
              </a:extLst>
            </p:cNvPr>
            <p:cNvSpPr/>
            <p:nvPr/>
          </p:nvSpPr>
          <p:spPr>
            <a:xfrm>
              <a:off x="781688" y="1796822"/>
              <a:ext cx="971956" cy="457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8" name="Título 1">
              <a:extLst>
                <a:ext uri="{FF2B5EF4-FFF2-40B4-BE49-F238E27FC236}">
                  <a16:creationId xmlns="" xmlns:a16="http://schemas.microsoft.com/office/drawing/2014/main" id="{16C39CA5-CC93-B536-2382-65125837F350}"/>
                </a:ext>
              </a:extLst>
            </p:cNvPr>
            <p:cNvSpPr txBox="1">
              <a:spLocks/>
            </p:cNvSpPr>
            <p:nvPr/>
          </p:nvSpPr>
          <p:spPr>
            <a:xfrm>
              <a:off x="668953" y="1494678"/>
              <a:ext cx="3239167" cy="294592"/>
            </a:xfrm>
            <a:prstGeom prst="rect">
              <a:avLst/>
            </a:prstGeom>
          </p:spPr>
          <p:txBody>
            <a:bodyPr/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s-CO" sz="1800" b="1" dirty="0">
                  <a:solidFill>
                    <a:srgbClr val="38AA00"/>
                  </a:solidFill>
                  <a:latin typeface="Work Sans Light" pitchFamily="2" charset="77"/>
                </a:rPr>
                <a:t>Primer Trimestre</a:t>
              </a:r>
            </a:p>
          </p:txBody>
        </p:sp>
      </p:grpSp>
      <p:sp>
        <p:nvSpPr>
          <p:cNvPr id="13" name="CuadroTexto 12">
            <a:extLst>
              <a:ext uri="{FF2B5EF4-FFF2-40B4-BE49-F238E27FC236}">
                <a16:creationId xmlns="" xmlns:a16="http://schemas.microsoft.com/office/drawing/2014/main" id="{DA55306B-6A90-067D-7E3E-9A883AF81519}"/>
              </a:ext>
            </a:extLst>
          </p:cNvPr>
          <p:cNvSpPr txBox="1"/>
          <p:nvPr/>
        </p:nvSpPr>
        <p:spPr>
          <a:xfrm>
            <a:off x="1366063" y="4602498"/>
            <a:ext cx="385436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600" dirty="0">
                <a:latin typeface="Calibri" panose="020F0502020204030204" pitchFamily="34" charset="0"/>
                <a:cs typeface="Calibri" panose="020F0502020204030204" pitchFamily="34" charset="0"/>
              </a:rPr>
              <a:t>Modelo Entidad Relación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600" dirty="0">
                <a:latin typeface="Calibri" panose="020F0502020204030204" pitchFamily="34" charset="0"/>
                <a:cs typeface="Calibri" panose="020F0502020204030204" pitchFamily="34" charset="0"/>
              </a:rPr>
              <a:t>Modelo Relacional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600" dirty="0">
                <a:latin typeface="Calibri" panose="020F0502020204030204" pitchFamily="34" charset="0"/>
                <a:cs typeface="Calibri" panose="020F0502020204030204" pitchFamily="34" charset="0"/>
              </a:rPr>
              <a:t>Diccionario de Datos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600" dirty="0">
                <a:latin typeface="Calibri" panose="020F0502020204030204" pitchFamily="34" charset="0"/>
                <a:cs typeface="Calibri" panose="020F0502020204030204" pitchFamily="34" charset="0"/>
              </a:rPr>
              <a:t>Script de la BBDD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600" dirty="0">
                <a:latin typeface="Calibri" panose="020F0502020204030204" pitchFamily="34" charset="0"/>
                <a:cs typeface="Calibri" panose="020F0502020204030204" pitchFamily="34" charset="0"/>
              </a:rPr>
              <a:t>Sentencias DDL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600" dirty="0">
                <a:latin typeface="Calibri" panose="020F0502020204030204" pitchFamily="34" charset="0"/>
                <a:cs typeface="Calibri" panose="020F0502020204030204" pitchFamily="34" charset="0"/>
              </a:rPr>
              <a:t>Consultas DML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600" dirty="0">
                <a:latin typeface="Calibri" panose="020F0502020204030204" pitchFamily="34" charset="0"/>
                <a:cs typeface="Calibri" panose="020F0502020204030204" pitchFamily="34" charset="0"/>
              </a:rPr>
              <a:t>Automatización de la BBDD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600" dirty="0">
                <a:latin typeface="Calibri" panose="020F0502020204030204" pitchFamily="34" charset="0"/>
                <a:cs typeface="Calibri" panose="020F0502020204030204" pitchFamily="34" charset="0"/>
              </a:rPr>
              <a:t>Sistema de Información Web – Servidor Local</a:t>
            </a:r>
          </a:p>
        </p:txBody>
      </p:sp>
      <p:grpSp>
        <p:nvGrpSpPr>
          <p:cNvPr id="14" name="Grupo 13">
            <a:extLst>
              <a:ext uri="{FF2B5EF4-FFF2-40B4-BE49-F238E27FC236}">
                <a16:creationId xmlns="" xmlns:a16="http://schemas.microsoft.com/office/drawing/2014/main" id="{4BDEE201-EAE8-3EF0-7D52-A839443BF995}"/>
              </a:ext>
            </a:extLst>
          </p:cNvPr>
          <p:cNvGrpSpPr/>
          <p:nvPr/>
        </p:nvGrpSpPr>
        <p:grpSpPr>
          <a:xfrm>
            <a:off x="1060822" y="4230357"/>
            <a:ext cx="3239167" cy="347863"/>
            <a:chOff x="668953" y="1494678"/>
            <a:chExt cx="3239167" cy="347863"/>
          </a:xfrm>
        </p:grpSpPr>
        <p:sp>
          <p:nvSpPr>
            <p:cNvPr id="15" name="Rectángulo 14">
              <a:extLst>
                <a:ext uri="{FF2B5EF4-FFF2-40B4-BE49-F238E27FC236}">
                  <a16:creationId xmlns="" xmlns:a16="http://schemas.microsoft.com/office/drawing/2014/main" id="{60E7E3DC-F54F-16EE-6193-F3B84790E597}"/>
                </a:ext>
              </a:extLst>
            </p:cNvPr>
            <p:cNvSpPr/>
            <p:nvPr/>
          </p:nvSpPr>
          <p:spPr>
            <a:xfrm>
              <a:off x="781688" y="1796822"/>
              <a:ext cx="971956" cy="457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16" name="Título 1">
              <a:extLst>
                <a:ext uri="{FF2B5EF4-FFF2-40B4-BE49-F238E27FC236}">
                  <a16:creationId xmlns="" xmlns:a16="http://schemas.microsoft.com/office/drawing/2014/main" id="{E680F7F2-FBF8-50E2-5177-540E4EFE02CB}"/>
                </a:ext>
              </a:extLst>
            </p:cNvPr>
            <p:cNvSpPr txBox="1">
              <a:spLocks/>
            </p:cNvSpPr>
            <p:nvPr/>
          </p:nvSpPr>
          <p:spPr>
            <a:xfrm>
              <a:off x="668953" y="1494678"/>
              <a:ext cx="3239167" cy="294592"/>
            </a:xfrm>
            <a:prstGeom prst="rect">
              <a:avLst/>
            </a:prstGeom>
          </p:spPr>
          <p:txBody>
            <a:bodyPr/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s-CO" sz="1800" b="1" dirty="0">
                  <a:solidFill>
                    <a:srgbClr val="38AA00"/>
                  </a:solidFill>
                  <a:latin typeface="Work Sans Light" pitchFamily="2" charset="77"/>
                </a:rPr>
                <a:t>Segundo Trimestre</a:t>
              </a:r>
            </a:p>
          </p:txBody>
        </p:sp>
      </p:grpSp>
      <p:grpSp>
        <p:nvGrpSpPr>
          <p:cNvPr id="9" name="Grupo 8">
            <a:extLst>
              <a:ext uri="{FF2B5EF4-FFF2-40B4-BE49-F238E27FC236}">
                <a16:creationId xmlns="" xmlns:a16="http://schemas.microsoft.com/office/drawing/2014/main" id="{A3825B01-EA75-13DA-930E-0E7065456FC4}"/>
              </a:ext>
            </a:extLst>
          </p:cNvPr>
          <p:cNvGrpSpPr/>
          <p:nvPr/>
        </p:nvGrpSpPr>
        <p:grpSpPr>
          <a:xfrm>
            <a:off x="4902545" y="2675450"/>
            <a:ext cx="3239167" cy="347863"/>
            <a:chOff x="668953" y="1494678"/>
            <a:chExt cx="3239167" cy="347863"/>
          </a:xfrm>
        </p:grpSpPr>
        <p:sp>
          <p:nvSpPr>
            <p:cNvPr id="10" name="Rectángulo 9">
              <a:extLst>
                <a:ext uri="{FF2B5EF4-FFF2-40B4-BE49-F238E27FC236}">
                  <a16:creationId xmlns="" xmlns:a16="http://schemas.microsoft.com/office/drawing/2014/main" id="{1F95563B-F1FA-3F38-9469-C187B76F2652}"/>
                </a:ext>
              </a:extLst>
            </p:cNvPr>
            <p:cNvSpPr/>
            <p:nvPr/>
          </p:nvSpPr>
          <p:spPr>
            <a:xfrm>
              <a:off x="781688" y="1796822"/>
              <a:ext cx="971956" cy="457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11" name="Título 1">
              <a:extLst>
                <a:ext uri="{FF2B5EF4-FFF2-40B4-BE49-F238E27FC236}">
                  <a16:creationId xmlns="" xmlns:a16="http://schemas.microsoft.com/office/drawing/2014/main" id="{5D4107EC-62A9-0CBC-9BAA-31894991FBDA}"/>
                </a:ext>
              </a:extLst>
            </p:cNvPr>
            <p:cNvSpPr txBox="1">
              <a:spLocks/>
            </p:cNvSpPr>
            <p:nvPr/>
          </p:nvSpPr>
          <p:spPr>
            <a:xfrm>
              <a:off x="668953" y="1494678"/>
              <a:ext cx="3239167" cy="294592"/>
            </a:xfrm>
            <a:prstGeom prst="rect">
              <a:avLst/>
            </a:prstGeom>
          </p:spPr>
          <p:txBody>
            <a:bodyPr/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s-CO" sz="1800" b="1" dirty="0">
                  <a:solidFill>
                    <a:srgbClr val="38AA00"/>
                  </a:solidFill>
                  <a:latin typeface="Work Sans Light" pitchFamily="2" charset="77"/>
                </a:rPr>
                <a:t>Tercer Trimestre</a:t>
              </a:r>
            </a:p>
          </p:txBody>
        </p:sp>
      </p:grpSp>
      <p:sp>
        <p:nvSpPr>
          <p:cNvPr id="17" name="CuadroTexto 16">
            <a:extLst>
              <a:ext uri="{FF2B5EF4-FFF2-40B4-BE49-F238E27FC236}">
                <a16:creationId xmlns="" xmlns:a16="http://schemas.microsoft.com/office/drawing/2014/main" id="{9BECBF41-5245-C57F-50B5-C5EEB7FC3623}"/>
              </a:ext>
            </a:extLst>
          </p:cNvPr>
          <p:cNvSpPr txBox="1"/>
          <p:nvPr/>
        </p:nvSpPr>
        <p:spPr>
          <a:xfrm>
            <a:off x="5138058" y="3116381"/>
            <a:ext cx="385436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s-MX" sz="1600" dirty="0">
                <a:latin typeface="Calibri" panose="020F0502020204030204" pitchFamily="34" charset="0"/>
                <a:cs typeface="Calibri" panose="020F0502020204030204" pitchFamily="34" charset="0"/>
              </a:rPr>
              <a:t>Planeación de Pruebas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MX" sz="1600" dirty="0">
                <a:latin typeface="Calibri" panose="020F0502020204030204" pitchFamily="34" charset="0"/>
                <a:cs typeface="Calibri" panose="020F0502020204030204" pitchFamily="34" charset="0"/>
              </a:rPr>
              <a:t>Ejecución de Pruebas</a:t>
            </a:r>
          </a:p>
        </p:txBody>
      </p:sp>
      <p:grpSp>
        <p:nvGrpSpPr>
          <p:cNvPr id="18" name="Grupo 17">
            <a:extLst>
              <a:ext uri="{FF2B5EF4-FFF2-40B4-BE49-F238E27FC236}">
                <a16:creationId xmlns="" xmlns:a16="http://schemas.microsoft.com/office/drawing/2014/main" id="{FCE1BD1E-1D51-E6AF-F105-4076FC2D57D5}"/>
              </a:ext>
            </a:extLst>
          </p:cNvPr>
          <p:cNvGrpSpPr/>
          <p:nvPr/>
        </p:nvGrpSpPr>
        <p:grpSpPr>
          <a:xfrm>
            <a:off x="4909555" y="4722219"/>
            <a:ext cx="3239167" cy="347863"/>
            <a:chOff x="668953" y="1494678"/>
            <a:chExt cx="3239167" cy="347863"/>
          </a:xfrm>
        </p:grpSpPr>
        <p:sp>
          <p:nvSpPr>
            <p:cNvPr id="19" name="Rectángulo 18">
              <a:extLst>
                <a:ext uri="{FF2B5EF4-FFF2-40B4-BE49-F238E27FC236}">
                  <a16:creationId xmlns="" xmlns:a16="http://schemas.microsoft.com/office/drawing/2014/main" id="{D3E0EBBB-9147-55CA-2418-498278054CFC}"/>
                </a:ext>
              </a:extLst>
            </p:cNvPr>
            <p:cNvSpPr/>
            <p:nvPr/>
          </p:nvSpPr>
          <p:spPr>
            <a:xfrm>
              <a:off x="781688" y="1796822"/>
              <a:ext cx="971956" cy="457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20" name="Título 1">
              <a:extLst>
                <a:ext uri="{FF2B5EF4-FFF2-40B4-BE49-F238E27FC236}">
                  <a16:creationId xmlns="" xmlns:a16="http://schemas.microsoft.com/office/drawing/2014/main" id="{D72BC5B6-99EB-82E2-EF05-9C929BA4026B}"/>
                </a:ext>
              </a:extLst>
            </p:cNvPr>
            <p:cNvSpPr txBox="1">
              <a:spLocks/>
            </p:cNvSpPr>
            <p:nvPr/>
          </p:nvSpPr>
          <p:spPr>
            <a:xfrm>
              <a:off x="668953" y="1494678"/>
              <a:ext cx="3239167" cy="294592"/>
            </a:xfrm>
            <a:prstGeom prst="rect">
              <a:avLst/>
            </a:prstGeom>
          </p:spPr>
          <p:txBody>
            <a:bodyPr/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s-CO" sz="1800" b="1" dirty="0">
                  <a:solidFill>
                    <a:srgbClr val="38AA00"/>
                  </a:solidFill>
                  <a:latin typeface="Work Sans Light" pitchFamily="2" charset="77"/>
                </a:rPr>
                <a:t>Cuarto Trimestre</a:t>
              </a:r>
            </a:p>
          </p:txBody>
        </p:sp>
      </p:grpSp>
      <p:sp>
        <p:nvSpPr>
          <p:cNvPr id="21" name="CuadroTexto 20">
            <a:extLst>
              <a:ext uri="{FF2B5EF4-FFF2-40B4-BE49-F238E27FC236}">
                <a16:creationId xmlns="" xmlns:a16="http://schemas.microsoft.com/office/drawing/2014/main" id="{FB827742-8BEF-4F91-027F-86DDB60084FD}"/>
              </a:ext>
            </a:extLst>
          </p:cNvPr>
          <p:cNvSpPr txBox="1"/>
          <p:nvPr/>
        </p:nvSpPr>
        <p:spPr>
          <a:xfrm>
            <a:off x="5138058" y="5219739"/>
            <a:ext cx="385436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s-MX" sz="1600" dirty="0">
                <a:latin typeface="Calibri" panose="020F0502020204030204" pitchFamily="34" charset="0"/>
                <a:cs typeface="Calibri" panose="020F0502020204030204" pitchFamily="34" charset="0"/>
              </a:rPr>
              <a:t>Manual de Instalación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MX" sz="1600" dirty="0">
                <a:latin typeface="Calibri" panose="020F0502020204030204" pitchFamily="34" charset="0"/>
                <a:cs typeface="Calibri" panose="020F0502020204030204" pitchFamily="34" charset="0"/>
              </a:rPr>
              <a:t>Configuración del Servidor de Aplicaciones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MX" sz="1600" dirty="0">
                <a:latin typeface="Calibri" panose="020F0502020204030204" pitchFamily="34" charset="0"/>
                <a:cs typeface="Calibri" panose="020F0502020204030204" pitchFamily="34" charset="0"/>
              </a:rPr>
              <a:t>Configuración del Servidor de BBDD</a:t>
            </a:r>
          </a:p>
        </p:txBody>
      </p:sp>
      <p:grpSp>
        <p:nvGrpSpPr>
          <p:cNvPr id="22" name="Grupo 21">
            <a:extLst>
              <a:ext uri="{FF2B5EF4-FFF2-40B4-BE49-F238E27FC236}">
                <a16:creationId xmlns="" xmlns:a16="http://schemas.microsoft.com/office/drawing/2014/main" id="{648580DD-9095-EA4C-4032-6CDC04F6E419}"/>
              </a:ext>
            </a:extLst>
          </p:cNvPr>
          <p:cNvGrpSpPr/>
          <p:nvPr/>
        </p:nvGrpSpPr>
        <p:grpSpPr>
          <a:xfrm>
            <a:off x="8350341" y="3568215"/>
            <a:ext cx="3239167" cy="347863"/>
            <a:chOff x="668953" y="1494678"/>
            <a:chExt cx="3239167" cy="347863"/>
          </a:xfrm>
        </p:grpSpPr>
        <p:sp>
          <p:nvSpPr>
            <p:cNvPr id="23" name="Rectángulo 22">
              <a:extLst>
                <a:ext uri="{FF2B5EF4-FFF2-40B4-BE49-F238E27FC236}">
                  <a16:creationId xmlns="" xmlns:a16="http://schemas.microsoft.com/office/drawing/2014/main" id="{13A95A63-0013-4AF3-D361-E97A2D8BAA5A}"/>
                </a:ext>
              </a:extLst>
            </p:cNvPr>
            <p:cNvSpPr/>
            <p:nvPr/>
          </p:nvSpPr>
          <p:spPr>
            <a:xfrm>
              <a:off x="781688" y="1796822"/>
              <a:ext cx="971956" cy="457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24" name="Título 1">
              <a:extLst>
                <a:ext uri="{FF2B5EF4-FFF2-40B4-BE49-F238E27FC236}">
                  <a16:creationId xmlns="" xmlns:a16="http://schemas.microsoft.com/office/drawing/2014/main" id="{AF8ED4B5-B0F0-DA61-CE59-7D3164807EBC}"/>
                </a:ext>
              </a:extLst>
            </p:cNvPr>
            <p:cNvSpPr txBox="1">
              <a:spLocks/>
            </p:cNvSpPr>
            <p:nvPr/>
          </p:nvSpPr>
          <p:spPr>
            <a:xfrm>
              <a:off x="668953" y="1494678"/>
              <a:ext cx="3239167" cy="294592"/>
            </a:xfrm>
            <a:prstGeom prst="rect">
              <a:avLst/>
            </a:prstGeom>
          </p:spPr>
          <p:txBody>
            <a:bodyPr/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s-CO" sz="1800" b="1" dirty="0">
                  <a:solidFill>
                    <a:srgbClr val="38AA00"/>
                  </a:solidFill>
                  <a:latin typeface="Work Sans Light" pitchFamily="2" charset="77"/>
                </a:rPr>
                <a:t>Quinto Trimestre</a:t>
              </a:r>
            </a:p>
          </p:txBody>
        </p:sp>
      </p:grpSp>
      <p:sp>
        <p:nvSpPr>
          <p:cNvPr id="25" name="CuadroTexto 24">
            <a:extLst>
              <a:ext uri="{FF2B5EF4-FFF2-40B4-BE49-F238E27FC236}">
                <a16:creationId xmlns="" xmlns:a16="http://schemas.microsoft.com/office/drawing/2014/main" id="{ECCF2336-24C1-7B7D-C6B6-ECB6A1DAFDEA}"/>
              </a:ext>
            </a:extLst>
          </p:cNvPr>
          <p:cNvSpPr txBox="1"/>
          <p:nvPr/>
        </p:nvSpPr>
        <p:spPr>
          <a:xfrm>
            <a:off x="8578844" y="4065735"/>
            <a:ext cx="27500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s-MX" sz="1600" dirty="0">
                <a:latin typeface="Calibri" panose="020F0502020204030204" pitchFamily="34" charset="0"/>
                <a:cs typeface="Calibri" panose="020F0502020204030204" pitchFamily="34" charset="0"/>
              </a:rPr>
              <a:t>Manual de Usuario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MX" sz="1600" dirty="0">
                <a:latin typeface="Calibri" panose="020F0502020204030204" pitchFamily="34" charset="0"/>
                <a:cs typeface="Calibri" panose="020F0502020204030204" pitchFamily="34" charset="0"/>
              </a:rPr>
              <a:t>Sistema de Información Web – Servidor Externo</a:t>
            </a:r>
          </a:p>
        </p:txBody>
      </p:sp>
      <p:pic>
        <p:nvPicPr>
          <p:cNvPr id="26" name="Picture 6">
            <a:extLst>
              <a:ext uri="{FF2B5EF4-FFF2-40B4-BE49-F238E27FC236}">
                <a16:creationId xmlns="" xmlns:a16="http://schemas.microsoft.com/office/drawing/2014/main" id="{9736F48F-238B-49E9-BD6C-AA9D5C711D1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679" b="15294"/>
          <a:stretch/>
        </p:blipFill>
        <p:spPr bwMode="auto">
          <a:xfrm>
            <a:off x="9778196" y="160418"/>
            <a:ext cx="1352366" cy="11134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8">
            <a:extLst>
              <a:ext uri="{FF2B5EF4-FFF2-40B4-BE49-F238E27FC236}">
                <a16:creationId xmlns="" xmlns:a16="http://schemas.microsoft.com/office/drawing/2014/main" id="{072240F6-A406-441C-951A-46C7FD7FE4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7359" y="104277"/>
            <a:ext cx="1479562" cy="1225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431092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 descr="Imagen que contiene Interfaz de usuario gráfica&#10;&#10;Descripción generada automáticamente">
            <a:extLst>
              <a:ext uri="{FF2B5EF4-FFF2-40B4-BE49-F238E27FC236}">
                <a16:creationId xmlns="" xmlns:a16="http://schemas.microsoft.com/office/drawing/2014/main" id="{A01EB75E-8874-42DD-11A3-2D5CA1D238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622032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3887</TotalTime>
  <Words>1460</Words>
  <Application>Microsoft Office PowerPoint</Application>
  <PresentationFormat>Panorámica</PresentationFormat>
  <Paragraphs>106</Paragraphs>
  <Slides>13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21" baseType="lpstr">
      <vt:lpstr>Arial</vt:lpstr>
      <vt:lpstr>Calibri</vt:lpstr>
      <vt:lpstr>Calibri Light</vt:lpstr>
      <vt:lpstr>Times New Roman</vt:lpstr>
      <vt:lpstr>Work Sans</vt:lpstr>
      <vt:lpstr>Work Sans Light</vt:lpstr>
      <vt:lpstr>Work Sans Medium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Problema</vt:lpstr>
      <vt:lpstr>Presentación de PowerPoint</vt:lpstr>
      <vt:lpstr>Justificación</vt:lpstr>
      <vt:lpstr>Justificación</vt:lpstr>
      <vt:lpstr>Presentación de PowerPoint</vt:lpstr>
      <vt:lpstr>Selección Del Stack</vt:lpstr>
      <vt:lpstr>Delimitación</vt:lpstr>
      <vt:lpstr>Entregables Proyecto Formativo por Trimestre</vt:lpstr>
      <vt:lpstr>Presentación de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Jorge Enrique Pedraza Sanchez</dc:creator>
  <cp:lastModifiedBy>pc</cp:lastModifiedBy>
  <cp:revision>100</cp:revision>
  <dcterms:created xsi:type="dcterms:W3CDTF">2020-10-01T23:51:28Z</dcterms:created>
  <dcterms:modified xsi:type="dcterms:W3CDTF">2026-06-30T16:53:48Z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299739c-ad3d-4908-806e-4d91151a6e13_Enabled">
    <vt:lpwstr>true</vt:lpwstr>
  </property>
  <property fmtid="{D5CDD505-2E9C-101B-9397-08002B2CF9AE}" pid="3" name="MSIP_Label_1299739c-ad3d-4908-806e-4d91151a6e13_Method">
    <vt:lpwstr>Standard</vt:lpwstr>
  </property>
  <property fmtid="{D5CDD505-2E9C-101B-9397-08002B2CF9AE}" pid="4" name="MSIP_Label_1299739c-ad3d-4908-806e-4d91151a6e13_Name">
    <vt:lpwstr>All Employees (Unrestricted)</vt:lpwstr>
  </property>
  <property fmtid="{D5CDD505-2E9C-101B-9397-08002B2CF9AE}" pid="5" name="MSIP_Label_1299739c-ad3d-4908-806e-4d91151a6e13_SiteId">
    <vt:lpwstr>cbc2c381-2f2e-4d93-91d1-506c9316ace7</vt:lpwstr>
  </property>
  <property fmtid="{D5CDD505-2E9C-101B-9397-08002B2CF9AE}" pid="6" name="MSIP_Label_1299739c-ad3d-4908-806e-4d91151a6e13_ContentBits">
    <vt:lpwstr>0</vt:lpwstr>
  </property>
  <property fmtid="{D5CDD505-2E9C-101B-9397-08002B2CF9AE}" pid="7" name="MSIP_Label_1299739c-ad3d-4908-806e-4d91151a6e13_SetDate">
    <vt:lpwstr>2022-08-12T19:17:55Z</vt:lpwstr>
  </property>
  <property fmtid="{D5CDD505-2E9C-101B-9397-08002B2CF9AE}" pid="8" name="MSIP_Label_1299739c-ad3d-4908-806e-4d91151a6e13_ActionId">
    <vt:lpwstr>8c6bc714-34a9-4b82-914e-50b1377a2da4</vt:lpwstr>
  </property>
</Properties>
</file>